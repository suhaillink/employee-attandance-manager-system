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project title and all identity fields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block labels and arrows with your project's real components, and describe the data flow underneath.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your actual ER diagram or entity list if you have one — this is a placeholder 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flowchart to match your actual number of workflow steps.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repeatable template — duplicate it once per key functionality (Slide 11 onward) and swap in the real name, behavior, and screenshot.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61C4D"/>
          </a:solidFill>
        </p:spPr>
      </p:sp>
      <p:sp>
        <p:nvSpPr>
          <p:cNvPr id="3" name="Shape 1"/>
          <p:cNvSpPr/>
          <p:nvPr/>
        </p:nvSpPr>
        <p:spPr>
          <a:xfrm>
            <a:off x="10607040" y="4754880"/>
            <a:ext cx="2926080" cy="2926080"/>
          </a:xfrm>
          <a:prstGeom prst="ellipse">
            <a:avLst/>
          </a:prstGeom>
          <a:solidFill>
            <a:srgbClr val="161C4D"/>
          </a:solidFill>
        </p:spPr>
      </p:sp>
      <p:sp>
        <p:nvSpPr>
          <p:cNvPr id="5" name="Text 3"/>
          <p:cNvSpPr/>
          <p:nvPr/>
        </p:nvSpPr>
        <p:spPr>
          <a:xfrm>
            <a:off x="548640" y="2103120"/>
            <a:ext cx="10515600" cy="1097280"/>
          </a:xfrm>
          <a:prstGeom prst="rect">
            <a:avLst/>
          </a:prstGeom>
          <a:noFill/>
        </p:spPr>
        <p:txBody>
          <a:bodyPr wrap="square" lIns="0" tIns="0" rIns="0" bIns="0"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rPr>
              <a:t>EMPLOYEE ATTENDENCE MANAGEMENT SYSTEM</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OVERVIEW</a:t>
            </a:r>
            <a:endParaRPr lang="en-US" sz="1300" dirty="0"/>
          </a:p>
        </p:txBody>
      </p:sp>
      <p:sp>
        <p:nvSpPr>
          <p:cNvPr id="5" name="Shape 3"/>
          <p:cNvSpPr/>
          <p:nvPr/>
        </p:nvSpPr>
        <p:spPr>
          <a:xfrm>
            <a:off x="548640" y="1463040"/>
            <a:ext cx="11091672" cy="1417320"/>
          </a:xfrm>
          <a:prstGeom prst="roundRect">
            <a:avLst>
              <a:gd name="adj" fmla="val 5161"/>
            </a:avLst>
          </a:prstGeom>
          <a:solidFill>
            <a:srgbClr val="EEF3FD"/>
          </a:solidFill>
          <a:ln w="12700">
            <a:solidFill>
              <a:srgbClr val="CADCFC"/>
            </a:solidFill>
            <a:prstDash val="solid"/>
          </a:ln>
        </p:spPr>
      </p:sp>
      <p:sp>
        <p:nvSpPr>
          <p:cNvPr id="6" name="Text 4"/>
          <p:cNvSpPr/>
          <p:nvPr/>
        </p:nvSpPr>
        <p:spPr>
          <a:xfrm>
            <a:off x="868680" y="1627632"/>
            <a:ext cx="2926080" cy="1088136"/>
          </a:xfrm>
          <a:prstGeom prst="rect">
            <a:avLst/>
          </a:prstGeom>
          <a:noFill/>
        </p:spPr>
        <p:txBody>
          <a:bodyPr wrap="square" lIns="0" tIns="0" rIns="0" bIns="0" rtlCol="0" anchor="ctr"/>
          <a:lstStyle/>
          <a:p>
            <a:pPr marL="0" indent="0">
              <a:buNone/>
            </a:pPr>
            <a:r>
              <a:rPr lang="en-US" sz="1450" b="1" dirty="0">
                <a:solidFill>
                  <a:srgbClr val="1E2761"/>
                </a:solidFill>
                <a:latin typeface="Calibri" panose="020F0502020204030204" pitchFamily="34" charset="0"/>
                <a:ea typeface="Calibri" panose="020F0502020204030204" pitchFamily="34" charset="-122"/>
                <a:cs typeface="Calibri" panose="020F0502020204030204" pitchFamily="34" charset="-120"/>
              </a:rPr>
              <a:t>Introduction</a:t>
            </a:r>
            <a:endParaRPr lang="en-US" sz="1450" dirty="0"/>
          </a:p>
        </p:txBody>
      </p:sp>
      <p:sp>
        <p:nvSpPr>
          <p:cNvPr id="7" name="Text 5"/>
          <p:cNvSpPr/>
          <p:nvPr/>
        </p:nvSpPr>
        <p:spPr>
          <a:xfrm>
            <a:off x="3749040" y="1627632"/>
            <a:ext cx="7132320" cy="1088136"/>
          </a:xfrm>
          <a:prstGeom prst="rect">
            <a:avLst/>
          </a:prstGeom>
          <a:noFill/>
        </p:spPr>
        <p:txBody>
          <a:bodyPr wrap="square" lIns="0" tIns="0" rIns="0" bIns="0" rtlCol="0" anchor="ctr"/>
          <a:lstStyle/>
          <a:p>
            <a:r>
              <a:rPr lang="en-IN" sz="1400" b="1" dirty="0" err="1"/>
              <a:t>TimeFlow</a:t>
            </a:r>
            <a:r>
              <a:rPr lang="en-IN" sz="1400" dirty="0"/>
              <a:t> is a full-stack employee attendance management system that provides organizations with a centralized platform for managing employees and attendance through a structured web application. It enables administrators to manage employee records, monitor attendance, handle correction requests, and generate attendance reports, while employees can perform check-in/check-out operations and access their attendance information through role-based access.</a:t>
            </a:r>
            <a:endParaRPr lang="en-US" sz="1300" dirty="0"/>
          </a:p>
        </p:txBody>
      </p:sp>
      <p:sp>
        <p:nvSpPr>
          <p:cNvPr id="8" name="Shape 6"/>
          <p:cNvSpPr/>
          <p:nvPr/>
        </p:nvSpPr>
        <p:spPr>
          <a:xfrm>
            <a:off x="548640" y="3017520"/>
            <a:ext cx="11091672" cy="1417320"/>
          </a:xfrm>
          <a:prstGeom prst="roundRect">
            <a:avLst>
              <a:gd name="adj" fmla="val 5161"/>
            </a:avLst>
          </a:prstGeom>
          <a:solidFill>
            <a:srgbClr val="FFFFFF"/>
          </a:solidFill>
          <a:ln w="12700">
            <a:solidFill>
              <a:srgbClr val="CADCFC"/>
            </a:solidFill>
            <a:prstDash val="solid"/>
          </a:ln>
        </p:spPr>
      </p:sp>
      <p:sp>
        <p:nvSpPr>
          <p:cNvPr id="9" name="Text 7"/>
          <p:cNvSpPr/>
          <p:nvPr/>
        </p:nvSpPr>
        <p:spPr>
          <a:xfrm>
            <a:off x="868680" y="3182112"/>
            <a:ext cx="2926080" cy="1088136"/>
          </a:xfrm>
          <a:prstGeom prst="rect">
            <a:avLst/>
          </a:prstGeom>
          <a:noFill/>
        </p:spPr>
        <p:txBody>
          <a:bodyPr wrap="square" lIns="0" tIns="0" rIns="0" bIns="0" rtlCol="0" anchor="ctr"/>
          <a:lstStyle/>
          <a:p>
            <a:pPr marL="0" indent="0">
              <a:buNone/>
            </a:pPr>
            <a:r>
              <a:rPr lang="en-US" sz="1450" b="1" dirty="0">
                <a:solidFill>
                  <a:srgbClr val="1E2761"/>
                </a:solidFill>
                <a:latin typeface="Calibri" panose="020F0502020204030204" pitchFamily="34" charset="0"/>
                <a:ea typeface="Calibri" panose="020F0502020204030204" pitchFamily="34" charset="-122"/>
                <a:cs typeface="Calibri" panose="020F0502020204030204" pitchFamily="34" charset="-120"/>
              </a:rPr>
              <a:t>Problem addressed</a:t>
            </a:r>
            <a:endParaRPr lang="en-US" sz="1450" dirty="0"/>
          </a:p>
        </p:txBody>
      </p:sp>
      <p:sp>
        <p:nvSpPr>
          <p:cNvPr id="10" name="Text 8"/>
          <p:cNvSpPr/>
          <p:nvPr/>
        </p:nvSpPr>
        <p:spPr>
          <a:xfrm>
            <a:off x="3749040" y="3182112"/>
            <a:ext cx="7132320" cy="1088136"/>
          </a:xfrm>
          <a:prstGeom prst="rect">
            <a:avLst/>
          </a:prstGeom>
          <a:noFill/>
        </p:spPr>
        <p:txBody>
          <a:bodyPr wrap="square" lIns="0" tIns="0" rIns="0" bIns="0" rtlCol="0" anchor="ctr"/>
          <a:lstStyle/>
          <a:p>
            <a:r>
              <a:rPr lang="en-IN" sz="1400" dirty="0"/>
              <a:t>Traditional employee attendance management often involves manual record keeping, communication errors, and limited attendance tracking. Employees may face difficulties recording attendance and accessing their attendance information, while administrators need an efficient system to manage employee records, monitor attendance, handle corrections, and generate accurate attendance reports.</a:t>
            </a:r>
            <a:endParaRPr lang="en-US" sz="1300" dirty="0"/>
          </a:p>
        </p:txBody>
      </p:sp>
      <p:sp>
        <p:nvSpPr>
          <p:cNvPr id="11" name="Shape 9"/>
          <p:cNvSpPr/>
          <p:nvPr/>
        </p:nvSpPr>
        <p:spPr>
          <a:xfrm>
            <a:off x="548640" y="4572000"/>
            <a:ext cx="11091672" cy="1417320"/>
          </a:xfrm>
          <a:prstGeom prst="roundRect">
            <a:avLst>
              <a:gd name="adj" fmla="val 5161"/>
            </a:avLst>
          </a:prstGeom>
          <a:solidFill>
            <a:srgbClr val="EEF3FD"/>
          </a:solidFill>
          <a:ln w="12700">
            <a:solidFill>
              <a:srgbClr val="CADCFC"/>
            </a:solidFill>
            <a:prstDash val="solid"/>
          </a:ln>
        </p:spPr>
      </p:sp>
      <p:sp>
        <p:nvSpPr>
          <p:cNvPr id="12" name="Text 10"/>
          <p:cNvSpPr/>
          <p:nvPr/>
        </p:nvSpPr>
        <p:spPr>
          <a:xfrm>
            <a:off x="868680" y="4736592"/>
            <a:ext cx="2926080" cy="1088136"/>
          </a:xfrm>
          <a:prstGeom prst="rect">
            <a:avLst/>
          </a:prstGeom>
          <a:noFill/>
        </p:spPr>
        <p:txBody>
          <a:bodyPr wrap="square" lIns="0" tIns="0" rIns="0" bIns="0" rtlCol="0" anchor="ctr"/>
          <a:lstStyle/>
          <a:p>
            <a:pPr marL="0" indent="0">
              <a:buNone/>
            </a:pPr>
            <a:r>
              <a:rPr lang="en-US" sz="1450" b="1" dirty="0">
                <a:solidFill>
                  <a:srgbClr val="1E2761"/>
                </a:solidFill>
                <a:latin typeface="Calibri" panose="020F0502020204030204" pitchFamily="34" charset="0"/>
                <a:ea typeface="Calibri" panose="020F0502020204030204" pitchFamily="34" charset="-122"/>
                <a:cs typeface="Calibri" panose="020F0502020204030204" pitchFamily="34" charset="-120"/>
              </a:rPr>
              <a:t>Purpose</a:t>
            </a:r>
            <a:endParaRPr lang="en-US" sz="1450" dirty="0"/>
          </a:p>
        </p:txBody>
      </p:sp>
      <p:sp>
        <p:nvSpPr>
          <p:cNvPr id="13" name="Text 11"/>
          <p:cNvSpPr/>
          <p:nvPr/>
        </p:nvSpPr>
        <p:spPr>
          <a:xfrm>
            <a:off x="3749040" y="4736592"/>
            <a:ext cx="7132320" cy="1088136"/>
          </a:xfrm>
          <a:prstGeom prst="rect">
            <a:avLst/>
          </a:prstGeom>
          <a:noFill/>
        </p:spPr>
        <p:txBody>
          <a:bodyPr wrap="square" lIns="0" tIns="0" rIns="0" bIns="0" rtlCol="0" anchor="ctr"/>
          <a:lstStyle/>
          <a:p>
            <a:r>
              <a:rPr lang="en-IN" sz="1400" dirty="0"/>
              <a:t>The purpose of </a:t>
            </a:r>
            <a:r>
              <a:rPr lang="en-IN" sz="1400" b="1" dirty="0" err="1"/>
              <a:t>TimeFlow</a:t>
            </a:r>
            <a:r>
              <a:rPr lang="en-IN" sz="1400" dirty="0"/>
              <a:t> is to provide a centralized, secure, and user-friendly platform for employee attendance management. It simplifies employee and attendance management while providing organized data handling, role-based access, and efficient attendance tracking for administrators and employees.</a:t>
            </a:r>
            <a:endParaRPr lang="en-US" sz="1300" dirty="0"/>
          </a:p>
        </p:txBody>
      </p:sp>
      <p:sp>
        <p:nvSpPr>
          <p:cNvPr id="14" name="Text 12"/>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300" dirty="0"/>
          </a:p>
        </p:txBody>
      </p:sp>
      <p:sp>
        <p:nvSpPr>
          <p:cNvPr id="5" name="Shape 3"/>
          <p:cNvSpPr/>
          <p:nvPr/>
        </p:nvSpPr>
        <p:spPr>
          <a:xfrm>
            <a:off x="548640" y="1463040"/>
            <a:ext cx="11091672" cy="1417320"/>
          </a:xfrm>
          <a:prstGeom prst="roundRect">
            <a:avLst>
              <a:gd name="adj" fmla="val 5161"/>
            </a:avLst>
          </a:prstGeom>
          <a:solidFill>
            <a:srgbClr val="EEF3FD"/>
          </a:solidFill>
          <a:ln w="12700">
            <a:solidFill>
              <a:srgbClr val="CADCFC"/>
            </a:solidFill>
            <a:prstDash val="solid"/>
          </a:ln>
        </p:spPr>
        <p:txBody>
          <a:bodyPr/>
          <a:lstStyle/>
          <a:p>
            <a:endParaRPr lang="en-IN" dirty="0"/>
          </a:p>
        </p:txBody>
      </p:sp>
      <p:sp>
        <p:nvSpPr>
          <p:cNvPr id="6" name="Text 4"/>
          <p:cNvSpPr/>
          <p:nvPr/>
        </p:nvSpPr>
        <p:spPr>
          <a:xfrm>
            <a:off x="868680" y="1627632"/>
            <a:ext cx="3291840" cy="1088136"/>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Existing problem</a:t>
            </a:r>
            <a:endParaRPr lang="en-US" sz="1400" dirty="0"/>
          </a:p>
        </p:txBody>
      </p:sp>
      <p:sp>
        <p:nvSpPr>
          <p:cNvPr id="7" name="Text 5"/>
          <p:cNvSpPr/>
          <p:nvPr/>
        </p:nvSpPr>
        <p:spPr>
          <a:xfrm>
            <a:off x="4114800" y="1627632"/>
            <a:ext cx="6766560" cy="1088136"/>
          </a:xfrm>
          <a:prstGeom prst="rect">
            <a:avLst/>
          </a:prstGeom>
          <a:noFill/>
        </p:spPr>
        <p:txBody>
          <a:bodyPr wrap="square" lIns="0" tIns="0" rIns="0" bIns="0" rtlCol="0" anchor="ctr"/>
          <a:lstStyle/>
          <a:p>
            <a:r>
              <a:rPr lang="en-IN" sz="1400" dirty="0"/>
              <a:t>Traditional employee attendance management can involve manual record keeping, limited attendance visibility, and inefficient workforce management. Employees may face difficulty recording daily attendance and accessing their records, while administrators need an efficient way to manage employee information, monitor attendance, and generate accurate reports.</a:t>
            </a:r>
            <a:endParaRPr lang="en-US" sz="1300" dirty="0"/>
          </a:p>
        </p:txBody>
      </p:sp>
      <p:sp>
        <p:nvSpPr>
          <p:cNvPr id="8" name="Shape 6"/>
          <p:cNvSpPr/>
          <p:nvPr/>
        </p:nvSpPr>
        <p:spPr>
          <a:xfrm>
            <a:off x="548640" y="3017520"/>
            <a:ext cx="11091672" cy="1417320"/>
          </a:xfrm>
          <a:prstGeom prst="roundRect">
            <a:avLst>
              <a:gd name="adj" fmla="val 5161"/>
            </a:avLst>
          </a:prstGeom>
          <a:solidFill>
            <a:srgbClr val="FFFFFF"/>
          </a:solidFill>
          <a:ln w="12700">
            <a:solidFill>
              <a:srgbClr val="CADCFC"/>
            </a:solidFill>
            <a:prstDash val="solid"/>
          </a:ln>
        </p:spPr>
      </p:sp>
      <p:sp>
        <p:nvSpPr>
          <p:cNvPr id="9" name="Text 7"/>
          <p:cNvSpPr/>
          <p:nvPr/>
        </p:nvSpPr>
        <p:spPr>
          <a:xfrm>
            <a:off x="868680" y="3182112"/>
            <a:ext cx="3291840" cy="1088136"/>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Limitations of current approach</a:t>
            </a:r>
            <a:endParaRPr lang="en-US" sz="1400" dirty="0"/>
          </a:p>
        </p:txBody>
      </p:sp>
      <p:sp>
        <p:nvSpPr>
          <p:cNvPr id="10" name="Text 8"/>
          <p:cNvSpPr/>
          <p:nvPr/>
        </p:nvSpPr>
        <p:spPr>
          <a:xfrm>
            <a:off x="4114800" y="3182112"/>
            <a:ext cx="6812280" cy="1116691"/>
          </a:xfrm>
          <a:prstGeom prst="rect">
            <a:avLst/>
          </a:prstGeom>
          <a:noFill/>
        </p:spPr>
        <p:txBody>
          <a:bodyPr wrap="square" lIns="0" tIns="0" rIns="0" bIns="0" rtlCol="0" anchor="ctr"/>
          <a:lstStyle/>
          <a:p>
            <a:pPr marL="285750" lvl="0" indent="-285750">
              <a:buFont typeface="Arial" panose="020B0604020202020204" pitchFamily="34" charset="0"/>
              <a:buChar char="•"/>
            </a:pPr>
            <a:r>
              <a:rPr lang="en-IN" sz="1400" dirty="0"/>
              <a:t>Manual attendance handling can lead to recording errors and communication issues. </a:t>
            </a:r>
          </a:p>
          <a:p>
            <a:pPr marL="285750" lvl="0" indent="-285750">
              <a:buFont typeface="Arial" panose="020B0604020202020204" pitchFamily="34" charset="0"/>
              <a:buChar char="•"/>
            </a:pPr>
            <a:r>
              <a:rPr lang="en-IN" sz="1400" dirty="0"/>
              <a:t>Employee and attendance record management may be difficult to organize efficiently. </a:t>
            </a:r>
          </a:p>
          <a:p>
            <a:pPr marL="285750" lvl="0" indent="-285750">
              <a:buFont typeface="Arial" panose="020B0604020202020204" pitchFamily="34" charset="0"/>
              <a:buChar char="•"/>
            </a:pPr>
            <a:r>
              <a:rPr lang="en-IN" sz="1400" dirty="0"/>
              <a:t>Employees may have limited centralized access to their attendance information. </a:t>
            </a:r>
          </a:p>
          <a:p>
            <a:pPr marL="285750" lvl="0" indent="-285750">
              <a:buFont typeface="Arial" panose="020B0604020202020204" pitchFamily="34" charset="0"/>
              <a:buChar char="•"/>
            </a:pPr>
            <a:r>
              <a:rPr lang="en-IN" sz="1400" dirty="0"/>
              <a:t>Lack of integrated authentication and role-based access can create security concerns. </a:t>
            </a:r>
          </a:p>
          <a:p>
            <a:pPr marL="285750" lvl="0" indent="-285750">
              <a:buFont typeface="Arial" panose="020B0604020202020204" pitchFamily="34" charset="0"/>
              <a:buChar char="•"/>
            </a:pPr>
            <a:r>
              <a:rPr lang="en-IN" sz="1400" dirty="0"/>
              <a:t>Attendance tracking, correction requests, and report generation may not be handled through a single platform.</a:t>
            </a:r>
          </a:p>
        </p:txBody>
      </p:sp>
      <p:sp>
        <p:nvSpPr>
          <p:cNvPr id="11" name="Shape 9"/>
          <p:cNvSpPr/>
          <p:nvPr/>
        </p:nvSpPr>
        <p:spPr>
          <a:xfrm>
            <a:off x="548640" y="4572000"/>
            <a:ext cx="11091672" cy="1417320"/>
          </a:xfrm>
          <a:prstGeom prst="roundRect">
            <a:avLst>
              <a:gd name="adj" fmla="val 5161"/>
            </a:avLst>
          </a:prstGeom>
          <a:solidFill>
            <a:srgbClr val="EEF3FD"/>
          </a:solidFill>
          <a:ln w="12700">
            <a:solidFill>
              <a:srgbClr val="CADCFC"/>
            </a:solidFill>
            <a:prstDash val="solid"/>
          </a:ln>
        </p:spPr>
      </p:sp>
      <p:sp>
        <p:nvSpPr>
          <p:cNvPr id="12" name="Text 10"/>
          <p:cNvSpPr/>
          <p:nvPr/>
        </p:nvSpPr>
        <p:spPr>
          <a:xfrm>
            <a:off x="868680" y="4736592"/>
            <a:ext cx="3291840" cy="1088136"/>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this project is required</a:t>
            </a:r>
            <a:endParaRPr lang="en-US" sz="1400" dirty="0"/>
          </a:p>
        </p:txBody>
      </p:sp>
      <p:sp>
        <p:nvSpPr>
          <p:cNvPr id="13" name="Text 11"/>
          <p:cNvSpPr/>
          <p:nvPr/>
        </p:nvSpPr>
        <p:spPr>
          <a:xfrm>
            <a:off x="4114800" y="4736592"/>
            <a:ext cx="6766560" cy="1088136"/>
          </a:xfrm>
          <a:prstGeom prst="rect">
            <a:avLst/>
          </a:prstGeom>
          <a:noFill/>
        </p:spPr>
        <p:txBody>
          <a:bodyPr wrap="square" lIns="0" tIns="0" rIns="0" bIns="0" rtlCol="0" anchor="ctr"/>
          <a:lstStyle/>
          <a:p>
            <a:r>
              <a:rPr lang="en-IN" sz="1400" b="1" dirty="0" err="1"/>
              <a:t>TimeFlow</a:t>
            </a:r>
            <a:r>
              <a:rPr lang="en-IN" sz="1400" dirty="0"/>
              <a:t> provides a centralized platform for managing employees and attendance. It simplifies </a:t>
            </a:r>
            <a:r>
              <a:rPr lang="en-IN" sz="1400" b="1" dirty="0"/>
              <a:t>employee management, attendance check-in/check-out, attendance tracking, attendance report generation, and correction handling</a:t>
            </a:r>
            <a:r>
              <a:rPr lang="en-IN" sz="1400" dirty="0"/>
              <a:t> while providing </a:t>
            </a:r>
            <a:r>
              <a:rPr lang="en-IN" sz="1400" b="1" dirty="0"/>
              <a:t>organized data management and role-based access</a:t>
            </a:r>
            <a:r>
              <a:rPr lang="en-IN" sz="1400" dirty="0"/>
              <a:t> for administrators and employees.</a:t>
            </a:r>
            <a:endParaRPr lang="en-US" sz="1300" dirty="0"/>
          </a:p>
        </p:txBody>
      </p:sp>
      <p:sp>
        <p:nvSpPr>
          <p:cNvPr id="14" name="Text 12"/>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OBJECTIVES</a:t>
            </a:r>
            <a:endParaRPr lang="en-US" sz="1300" dirty="0"/>
          </a:p>
        </p:txBody>
      </p:sp>
      <p:sp>
        <p:nvSpPr>
          <p:cNvPr id="5" name="Shape 3"/>
          <p:cNvSpPr/>
          <p:nvPr/>
        </p:nvSpPr>
        <p:spPr>
          <a:xfrm>
            <a:off x="548640" y="1417320"/>
            <a:ext cx="5349240" cy="4754880"/>
          </a:xfrm>
          <a:prstGeom prst="roundRect">
            <a:avLst>
              <a:gd name="adj" fmla="val 1923"/>
            </a:avLst>
          </a:prstGeom>
          <a:solidFill>
            <a:srgbClr val="EEF3FD"/>
          </a:solidFill>
        </p:spPr>
      </p:sp>
      <p:sp>
        <p:nvSpPr>
          <p:cNvPr id="6" name="Text 4"/>
          <p:cNvSpPr/>
          <p:nvPr/>
        </p:nvSpPr>
        <p:spPr>
          <a:xfrm>
            <a:off x="822960" y="1645920"/>
            <a:ext cx="480060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objectives</a:t>
            </a:r>
            <a:endParaRPr lang="en-US" sz="1500" dirty="0"/>
          </a:p>
        </p:txBody>
      </p:sp>
      <p:sp>
        <p:nvSpPr>
          <p:cNvPr id="7" name="Shape 5"/>
          <p:cNvSpPr/>
          <p:nvPr/>
        </p:nvSpPr>
        <p:spPr>
          <a:xfrm>
            <a:off x="868680" y="2267712"/>
            <a:ext cx="100584" cy="100584"/>
          </a:xfrm>
          <a:prstGeom prst="ellipse">
            <a:avLst/>
          </a:prstGeom>
          <a:solidFill>
            <a:srgbClr val="E8A33D"/>
          </a:solidFill>
        </p:spPr>
      </p:sp>
      <p:sp>
        <p:nvSpPr>
          <p:cNvPr id="8" name="Text 6"/>
          <p:cNvSpPr/>
          <p:nvPr/>
        </p:nvSpPr>
        <p:spPr>
          <a:xfrm>
            <a:off x="1124712" y="2221601"/>
            <a:ext cx="4681728" cy="640080"/>
          </a:xfrm>
          <a:prstGeom prst="rect">
            <a:avLst/>
          </a:prstGeom>
          <a:noFill/>
        </p:spPr>
        <p:txBody>
          <a:bodyPr wrap="square" lIns="0" tIns="0" rIns="0" bIns="0" rtlCol="0" anchor="t"/>
          <a:lstStyle/>
          <a:p>
            <a:r>
              <a:rPr lang="en-IN" sz="1400" dirty="0"/>
              <a:t>Develop a secure employee attendance management platform.</a:t>
            </a:r>
            <a:endParaRPr lang="en-US" sz="1300" dirty="0"/>
          </a:p>
        </p:txBody>
      </p:sp>
      <p:sp>
        <p:nvSpPr>
          <p:cNvPr id="9" name="Shape 7"/>
          <p:cNvSpPr/>
          <p:nvPr/>
        </p:nvSpPr>
        <p:spPr>
          <a:xfrm>
            <a:off x="868680" y="2907792"/>
            <a:ext cx="100584" cy="100584"/>
          </a:xfrm>
          <a:prstGeom prst="ellipse">
            <a:avLst/>
          </a:prstGeom>
          <a:solidFill>
            <a:srgbClr val="E8A33D"/>
          </a:solidFill>
        </p:spPr>
      </p:sp>
      <p:sp>
        <p:nvSpPr>
          <p:cNvPr id="10" name="Text 8"/>
          <p:cNvSpPr/>
          <p:nvPr/>
        </p:nvSpPr>
        <p:spPr>
          <a:xfrm>
            <a:off x="1124712" y="2866995"/>
            <a:ext cx="4681728" cy="640080"/>
          </a:xfrm>
          <a:prstGeom prst="rect">
            <a:avLst/>
          </a:prstGeom>
          <a:noFill/>
        </p:spPr>
        <p:txBody>
          <a:bodyPr wrap="square" lIns="0" tIns="0" rIns="0" bIns="0" rtlCol="0" anchor="t"/>
          <a:lstStyle/>
          <a:p>
            <a:r>
              <a:rPr lang="en-IN" sz="1400" dirty="0"/>
              <a:t>Enable employees to record and manage their daily attendance.</a:t>
            </a:r>
            <a:endParaRPr lang="en-US" sz="1300" dirty="0"/>
          </a:p>
        </p:txBody>
      </p:sp>
      <p:sp>
        <p:nvSpPr>
          <p:cNvPr id="11" name="Shape 9"/>
          <p:cNvSpPr/>
          <p:nvPr/>
        </p:nvSpPr>
        <p:spPr>
          <a:xfrm>
            <a:off x="868680" y="3547872"/>
            <a:ext cx="100584" cy="100584"/>
          </a:xfrm>
          <a:prstGeom prst="ellipse">
            <a:avLst/>
          </a:prstGeom>
          <a:solidFill>
            <a:srgbClr val="E8A33D"/>
          </a:solidFill>
        </p:spPr>
      </p:sp>
      <p:sp>
        <p:nvSpPr>
          <p:cNvPr id="12" name="Text 10"/>
          <p:cNvSpPr/>
          <p:nvPr/>
        </p:nvSpPr>
        <p:spPr>
          <a:xfrm>
            <a:off x="1124712" y="3507075"/>
            <a:ext cx="4681728" cy="640080"/>
          </a:xfrm>
          <a:prstGeom prst="rect">
            <a:avLst/>
          </a:prstGeom>
          <a:noFill/>
        </p:spPr>
        <p:txBody>
          <a:bodyPr wrap="square" lIns="0" tIns="0" rIns="0" bIns="0" rtlCol="0" anchor="t"/>
          <a:lstStyle/>
          <a:p>
            <a:r>
              <a:rPr lang="en-IN" sz="1400" dirty="0"/>
              <a:t>Provide secure JWT-based authentication and role-based access.</a:t>
            </a:r>
            <a:endParaRPr lang="en-US" sz="1300" dirty="0"/>
          </a:p>
        </p:txBody>
      </p:sp>
      <p:sp>
        <p:nvSpPr>
          <p:cNvPr id="13" name="Shape 11"/>
          <p:cNvSpPr/>
          <p:nvPr/>
        </p:nvSpPr>
        <p:spPr>
          <a:xfrm>
            <a:off x="868680" y="4187952"/>
            <a:ext cx="100584" cy="100584"/>
          </a:xfrm>
          <a:prstGeom prst="ellipse">
            <a:avLst/>
          </a:prstGeom>
          <a:solidFill>
            <a:srgbClr val="E8A33D"/>
          </a:solidFill>
        </p:spPr>
      </p:sp>
      <p:sp>
        <p:nvSpPr>
          <p:cNvPr id="14" name="Text 12"/>
          <p:cNvSpPr/>
          <p:nvPr/>
        </p:nvSpPr>
        <p:spPr>
          <a:xfrm>
            <a:off x="1124712" y="4059936"/>
            <a:ext cx="4681728" cy="640080"/>
          </a:xfrm>
          <a:prstGeom prst="rect">
            <a:avLst/>
          </a:prstGeom>
          <a:noFill/>
        </p:spPr>
        <p:txBody>
          <a:bodyPr wrap="square" lIns="0" tIns="0" rIns="0" bIns="0" rtlCol="0" anchor="t"/>
          <a:lstStyle/>
          <a:p>
            <a:r>
              <a:rPr lang="en-IN" sz="1400" dirty="0"/>
              <a:t>Allow administrators to manage employee records, attendance data, correction requests, and attendance reports.</a:t>
            </a:r>
          </a:p>
        </p:txBody>
      </p:sp>
      <p:sp>
        <p:nvSpPr>
          <p:cNvPr id="15" name="Shape 13"/>
          <p:cNvSpPr/>
          <p:nvPr/>
        </p:nvSpPr>
        <p:spPr>
          <a:xfrm>
            <a:off x="6382512" y="1417320"/>
            <a:ext cx="5349240" cy="4754880"/>
          </a:xfrm>
          <a:prstGeom prst="roundRect">
            <a:avLst>
              <a:gd name="adj" fmla="val 1923"/>
            </a:avLst>
          </a:prstGeom>
          <a:solidFill>
            <a:srgbClr val="FFFFFF"/>
          </a:solidFill>
          <a:ln w="12700">
            <a:solidFill>
              <a:srgbClr val="CADCFC"/>
            </a:solidFill>
            <a:prstDash val="solid"/>
          </a:ln>
        </p:spPr>
      </p:sp>
      <p:sp>
        <p:nvSpPr>
          <p:cNvPr id="16" name="Text 14"/>
          <p:cNvSpPr/>
          <p:nvPr/>
        </p:nvSpPr>
        <p:spPr>
          <a:xfrm>
            <a:off x="6583680" y="1645920"/>
            <a:ext cx="480060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Expected outcomes</a:t>
            </a:r>
            <a:endParaRPr lang="en-US" sz="1500" dirty="0"/>
          </a:p>
        </p:txBody>
      </p:sp>
      <p:sp>
        <p:nvSpPr>
          <p:cNvPr id="17" name="Shape 15"/>
          <p:cNvSpPr/>
          <p:nvPr/>
        </p:nvSpPr>
        <p:spPr>
          <a:xfrm>
            <a:off x="6629400" y="2267712"/>
            <a:ext cx="100584" cy="100584"/>
          </a:xfrm>
          <a:prstGeom prst="ellipse">
            <a:avLst/>
          </a:prstGeom>
          <a:solidFill>
            <a:srgbClr val="E8A33D"/>
          </a:solidFill>
        </p:spPr>
      </p:sp>
      <p:sp>
        <p:nvSpPr>
          <p:cNvPr id="18" name="Text 16"/>
          <p:cNvSpPr/>
          <p:nvPr/>
        </p:nvSpPr>
        <p:spPr>
          <a:xfrm>
            <a:off x="6885432" y="2221601"/>
            <a:ext cx="4681728" cy="640080"/>
          </a:xfrm>
          <a:prstGeom prst="rect">
            <a:avLst/>
          </a:prstGeom>
          <a:noFill/>
        </p:spPr>
        <p:txBody>
          <a:bodyPr wrap="square" lIns="0" tIns="0" rIns="0" bIns="0" rtlCol="0" anchor="t"/>
          <a:lstStyle/>
          <a:p>
            <a:r>
              <a:rPr lang="en-IN" sz="1400" dirty="0"/>
              <a:t>smooth and user-friendly employee attendance management experience.</a:t>
            </a:r>
            <a:endParaRPr lang="en-US" sz="1300" dirty="0"/>
          </a:p>
        </p:txBody>
      </p:sp>
      <p:sp>
        <p:nvSpPr>
          <p:cNvPr id="19" name="Shape 17"/>
          <p:cNvSpPr/>
          <p:nvPr/>
        </p:nvSpPr>
        <p:spPr>
          <a:xfrm>
            <a:off x="6629400" y="2907792"/>
            <a:ext cx="100584" cy="100584"/>
          </a:xfrm>
          <a:prstGeom prst="ellipse">
            <a:avLst/>
          </a:prstGeom>
          <a:solidFill>
            <a:srgbClr val="E8A33D"/>
          </a:solidFill>
        </p:spPr>
      </p:sp>
      <p:sp>
        <p:nvSpPr>
          <p:cNvPr id="20" name="Text 18"/>
          <p:cNvSpPr/>
          <p:nvPr/>
        </p:nvSpPr>
        <p:spPr>
          <a:xfrm>
            <a:off x="6885432" y="2861681"/>
            <a:ext cx="4681728" cy="640080"/>
          </a:xfrm>
          <a:prstGeom prst="rect">
            <a:avLst/>
          </a:prstGeom>
          <a:noFill/>
        </p:spPr>
        <p:txBody>
          <a:bodyPr wrap="square" lIns="0" tIns="0" rIns="0" bIns="0" rtlCol="0" anchor="t"/>
          <a:lstStyle/>
          <a:p>
            <a:r>
              <a:rPr lang="en-IN" sz="1400" dirty="0"/>
              <a:t>Centralized employee, attendance, and report management.</a:t>
            </a:r>
            <a:endParaRPr lang="en-US" sz="1300" dirty="0"/>
          </a:p>
        </p:txBody>
      </p:sp>
      <p:sp>
        <p:nvSpPr>
          <p:cNvPr id="21" name="Shape 19"/>
          <p:cNvSpPr/>
          <p:nvPr/>
        </p:nvSpPr>
        <p:spPr>
          <a:xfrm>
            <a:off x="6629400" y="3547872"/>
            <a:ext cx="100584" cy="100584"/>
          </a:xfrm>
          <a:prstGeom prst="ellipse">
            <a:avLst/>
          </a:prstGeom>
          <a:solidFill>
            <a:srgbClr val="E8A33D"/>
          </a:solidFill>
        </p:spPr>
      </p:sp>
      <p:sp>
        <p:nvSpPr>
          <p:cNvPr id="22" name="Text 20"/>
          <p:cNvSpPr/>
          <p:nvPr/>
        </p:nvSpPr>
        <p:spPr>
          <a:xfrm>
            <a:off x="6885432" y="3511764"/>
            <a:ext cx="4681728" cy="640080"/>
          </a:xfrm>
          <a:prstGeom prst="rect">
            <a:avLst/>
          </a:prstGeom>
          <a:noFill/>
        </p:spPr>
        <p:txBody>
          <a:bodyPr wrap="square" lIns="0" tIns="0" rIns="0" bIns="0" rtlCol="0" anchor="t"/>
          <a:lstStyle/>
          <a:p>
            <a:r>
              <a:rPr lang="en-IN" sz="1400" dirty="0"/>
              <a:t>Secure access based on Administrator and Employee roles.</a:t>
            </a:r>
            <a:endParaRPr lang="en-US" sz="1300" dirty="0"/>
          </a:p>
        </p:txBody>
      </p:sp>
      <p:sp>
        <p:nvSpPr>
          <p:cNvPr id="23" name="Shape 21"/>
          <p:cNvSpPr/>
          <p:nvPr/>
        </p:nvSpPr>
        <p:spPr>
          <a:xfrm>
            <a:off x="6629400" y="4187952"/>
            <a:ext cx="100584" cy="100584"/>
          </a:xfrm>
          <a:prstGeom prst="ellipse">
            <a:avLst/>
          </a:prstGeom>
          <a:solidFill>
            <a:srgbClr val="E8A33D"/>
          </a:solidFill>
        </p:spPr>
      </p:sp>
      <p:sp>
        <p:nvSpPr>
          <p:cNvPr id="24" name="Text 22"/>
          <p:cNvSpPr/>
          <p:nvPr/>
        </p:nvSpPr>
        <p:spPr>
          <a:xfrm>
            <a:off x="6885432" y="4147155"/>
            <a:ext cx="4681728" cy="640080"/>
          </a:xfrm>
          <a:prstGeom prst="rect">
            <a:avLst/>
          </a:prstGeom>
          <a:noFill/>
        </p:spPr>
        <p:txBody>
          <a:bodyPr wrap="square" lIns="0" tIns="0" rIns="0" bIns="0" rtlCol="0" anchor="t"/>
          <a:lstStyle/>
          <a:p>
            <a:r>
              <a:rPr lang="en-IN" sz="1400" dirty="0"/>
              <a:t>Efficient employee and attendance management through REST APIs.</a:t>
            </a:r>
            <a:endParaRPr lang="en-US" sz="1300" dirty="0"/>
          </a:p>
        </p:txBody>
      </p:sp>
      <p:sp>
        <p:nvSpPr>
          <p:cNvPr id="25" name="Text 23"/>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[Student Name(s)]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300" dirty="0"/>
          </a:p>
        </p:txBody>
      </p:sp>
      <p:sp>
        <p:nvSpPr>
          <p:cNvPr id="5" name="Text 3"/>
          <p:cNvSpPr/>
          <p:nvPr/>
        </p:nvSpPr>
        <p:spPr>
          <a:xfrm>
            <a:off x="548640" y="1371600"/>
            <a:ext cx="548640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6" name="Text 4"/>
          <p:cNvSpPr/>
          <p:nvPr/>
        </p:nvSpPr>
        <p:spPr>
          <a:xfrm>
            <a:off x="548640" y="1737360"/>
            <a:ext cx="5486400" cy="1371600"/>
          </a:xfrm>
          <a:prstGeom prst="rect">
            <a:avLst/>
          </a:prstGeom>
          <a:noFill/>
        </p:spPr>
        <p:txBody>
          <a:bodyPr wrap="square" lIns="0" tIns="0" rIns="0" bIns="0" rtlCol="0" anchor="ctr"/>
          <a:lstStyle/>
          <a:p>
            <a:r>
              <a:rPr lang="en-IN" sz="1400" dirty="0" err="1"/>
              <a:t>TimeFlow</a:t>
            </a:r>
            <a:r>
              <a:rPr lang="en-IN" sz="1400" dirty="0"/>
              <a:t> provides a centralized web platform where Administrators and Employees can securely access the system through role-based access. Administrators can manage employee records, monitor attendance, handle correction requests, manage holidays, and generate attendance reports, while Employees can perform check-in/check-out operations, view attendance information, and submit correction requests.</a:t>
            </a:r>
            <a:endParaRPr lang="en-US" sz="1300" dirty="0"/>
          </a:p>
        </p:txBody>
      </p:sp>
      <p:sp>
        <p:nvSpPr>
          <p:cNvPr id="7" name="Shape 5"/>
          <p:cNvSpPr/>
          <p:nvPr/>
        </p:nvSpPr>
        <p:spPr>
          <a:xfrm>
            <a:off x="6675120" y="1371600"/>
            <a:ext cx="4937760" cy="4754880"/>
          </a:xfrm>
          <a:prstGeom prst="roundRect">
            <a:avLst>
              <a:gd name="adj" fmla="val 1923"/>
            </a:avLst>
          </a:prstGeom>
          <a:solidFill>
            <a:srgbClr val="EEF3FD"/>
          </a:solidFill>
        </p:spPr>
        <p:txBody>
          <a:bodyPr/>
          <a:lstStyle/>
          <a:p>
            <a:endParaRPr lang="en-IN" dirty="0"/>
          </a:p>
        </p:txBody>
      </p:sp>
      <p:sp>
        <p:nvSpPr>
          <p:cNvPr id="8" name="Text 6"/>
          <p:cNvSpPr/>
          <p:nvPr/>
        </p:nvSpPr>
        <p:spPr>
          <a:xfrm>
            <a:off x="6949440" y="1600200"/>
            <a:ext cx="438912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Major features</a:t>
            </a:r>
            <a:endParaRPr lang="en-US" sz="1500" dirty="0"/>
          </a:p>
        </p:txBody>
      </p:sp>
      <p:sp>
        <p:nvSpPr>
          <p:cNvPr id="9" name="Shape 7"/>
          <p:cNvSpPr/>
          <p:nvPr/>
        </p:nvSpPr>
        <p:spPr>
          <a:xfrm>
            <a:off x="6995160" y="2221992"/>
            <a:ext cx="100584" cy="100584"/>
          </a:xfrm>
          <a:prstGeom prst="ellipse">
            <a:avLst/>
          </a:prstGeom>
          <a:solidFill>
            <a:srgbClr val="E8A33D"/>
          </a:solidFill>
        </p:spPr>
      </p:sp>
      <p:sp>
        <p:nvSpPr>
          <p:cNvPr id="10" name="Text 8"/>
          <p:cNvSpPr/>
          <p:nvPr/>
        </p:nvSpPr>
        <p:spPr>
          <a:xfrm>
            <a:off x="7251192" y="2177054"/>
            <a:ext cx="4041648" cy="594360"/>
          </a:xfrm>
          <a:prstGeom prst="rect">
            <a:avLst/>
          </a:prstGeom>
          <a:noFill/>
        </p:spPr>
        <p:txBody>
          <a:bodyPr wrap="square" lIns="0" tIns="0" rIns="0" bIns="0" rtlCol="0" anchor="t"/>
          <a:lstStyle/>
          <a:p>
            <a:r>
              <a:rPr lang="en-IN" sz="1400" dirty="0"/>
              <a:t>Secure JWT Authentication</a:t>
            </a:r>
            <a:endParaRPr lang="en-US" sz="1300" dirty="0"/>
          </a:p>
        </p:txBody>
      </p:sp>
      <p:sp>
        <p:nvSpPr>
          <p:cNvPr id="11" name="Shape 9"/>
          <p:cNvSpPr/>
          <p:nvPr/>
        </p:nvSpPr>
        <p:spPr>
          <a:xfrm>
            <a:off x="6995160" y="2816352"/>
            <a:ext cx="100584" cy="100584"/>
          </a:xfrm>
          <a:prstGeom prst="ellipse">
            <a:avLst/>
          </a:prstGeom>
          <a:solidFill>
            <a:srgbClr val="E8A33D"/>
          </a:solidFill>
        </p:spPr>
      </p:sp>
      <p:sp>
        <p:nvSpPr>
          <p:cNvPr id="12" name="Text 10"/>
          <p:cNvSpPr/>
          <p:nvPr/>
        </p:nvSpPr>
        <p:spPr>
          <a:xfrm>
            <a:off x="7251192" y="2771414"/>
            <a:ext cx="4041648" cy="594360"/>
          </a:xfrm>
          <a:prstGeom prst="rect">
            <a:avLst/>
          </a:prstGeom>
          <a:noFill/>
        </p:spPr>
        <p:txBody>
          <a:bodyPr wrap="square" lIns="0" tIns="0" rIns="0" bIns="0" rtlCol="0" anchor="t"/>
          <a:lstStyle/>
          <a:p>
            <a:r>
              <a:rPr lang="en-IN" sz="1400" dirty="0"/>
              <a:t>Employee &amp; Attendance Management</a:t>
            </a:r>
            <a:endParaRPr lang="en-US" sz="1300" dirty="0"/>
          </a:p>
        </p:txBody>
      </p:sp>
      <p:sp>
        <p:nvSpPr>
          <p:cNvPr id="13" name="Shape 11"/>
          <p:cNvSpPr/>
          <p:nvPr/>
        </p:nvSpPr>
        <p:spPr>
          <a:xfrm>
            <a:off x="6995160" y="3410712"/>
            <a:ext cx="100584" cy="100584"/>
          </a:xfrm>
          <a:prstGeom prst="ellipse">
            <a:avLst/>
          </a:prstGeom>
          <a:solidFill>
            <a:srgbClr val="E8A33D"/>
          </a:solidFill>
        </p:spPr>
      </p:sp>
      <p:sp>
        <p:nvSpPr>
          <p:cNvPr id="14" name="Text 12"/>
          <p:cNvSpPr/>
          <p:nvPr/>
        </p:nvSpPr>
        <p:spPr>
          <a:xfrm>
            <a:off x="7251192" y="3360420"/>
            <a:ext cx="4041648" cy="594360"/>
          </a:xfrm>
          <a:prstGeom prst="rect">
            <a:avLst/>
          </a:prstGeom>
          <a:noFill/>
        </p:spPr>
        <p:txBody>
          <a:bodyPr wrap="square" lIns="0" tIns="0" rIns="0" bIns="0" rtlCol="0" anchor="t"/>
          <a:lstStyle/>
          <a:p>
            <a:r>
              <a:rPr lang="en-IN" sz="1400" dirty="0"/>
              <a:t>Attendance Tracking</a:t>
            </a:r>
            <a:endParaRPr lang="en-US" sz="1300" dirty="0"/>
          </a:p>
        </p:txBody>
      </p:sp>
      <p:sp>
        <p:nvSpPr>
          <p:cNvPr id="15" name="Shape 13"/>
          <p:cNvSpPr/>
          <p:nvPr/>
        </p:nvSpPr>
        <p:spPr>
          <a:xfrm>
            <a:off x="6995160" y="4005072"/>
            <a:ext cx="100584" cy="100584"/>
          </a:xfrm>
          <a:prstGeom prst="ellipse">
            <a:avLst/>
          </a:prstGeom>
          <a:solidFill>
            <a:srgbClr val="E8A33D"/>
          </a:solidFill>
        </p:spPr>
      </p:sp>
      <p:sp>
        <p:nvSpPr>
          <p:cNvPr id="16" name="Text 14"/>
          <p:cNvSpPr/>
          <p:nvPr/>
        </p:nvSpPr>
        <p:spPr>
          <a:xfrm>
            <a:off x="7251192" y="3932174"/>
            <a:ext cx="4041648" cy="594360"/>
          </a:xfrm>
          <a:prstGeom prst="rect">
            <a:avLst/>
          </a:prstGeom>
          <a:noFill/>
        </p:spPr>
        <p:txBody>
          <a:bodyPr wrap="square" lIns="0" tIns="0" rIns="0" bIns="0" rtlCol="0" anchor="t"/>
          <a:lstStyle/>
          <a:p>
            <a:r>
              <a:rPr lang="en-IN" sz="1400" dirty="0"/>
              <a:t>Check-In &amp; Check-Out</a:t>
            </a:r>
            <a:endParaRPr lang="en-US" sz="1300" dirty="0"/>
          </a:p>
        </p:txBody>
      </p:sp>
      <p:sp>
        <p:nvSpPr>
          <p:cNvPr id="17" name="Shape 15"/>
          <p:cNvSpPr/>
          <p:nvPr/>
        </p:nvSpPr>
        <p:spPr>
          <a:xfrm>
            <a:off x="6995160" y="4599432"/>
            <a:ext cx="100584" cy="100584"/>
          </a:xfrm>
          <a:prstGeom prst="ellipse">
            <a:avLst/>
          </a:prstGeom>
          <a:solidFill>
            <a:srgbClr val="E8A33D"/>
          </a:solidFill>
        </p:spPr>
      </p:sp>
      <p:sp>
        <p:nvSpPr>
          <p:cNvPr id="18" name="Text 16"/>
          <p:cNvSpPr/>
          <p:nvPr/>
        </p:nvSpPr>
        <p:spPr>
          <a:xfrm>
            <a:off x="7251192" y="4537827"/>
            <a:ext cx="4041648" cy="594360"/>
          </a:xfrm>
          <a:prstGeom prst="rect">
            <a:avLst/>
          </a:prstGeom>
          <a:noFill/>
        </p:spPr>
        <p:txBody>
          <a:bodyPr wrap="square" lIns="0" tIns="0" rIns="0" bIns="0" rtlCol="0" anchor="t"/>
          <a:lstStyle/>
          <a:p>
            <a:pPr lvl="0"/>
            <a:r>
              <a:rPr lang="en-IN" sz="1400" dirty="0"/>
              <a:t>Attendance Reporting </a:t>
            </a:r>
          </a:p>
        </p:txBody>
      </p:sp>
      <p:sp>
        <p:nvSpPr>
          <p:cNvPr id="19" name="Text 17"/>
          <p:cNvSpPr/>
          <p:nvPr/>
        </p:nvSpPr>
        <p:spPr>
          <a:xfrm>
            <a:off x="548640" y="3291840"/>
            <a:ext cx="548640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this solves the problem</a:t>
            </a:r>
            <a:endParaRPr lang="en-US" sz="1300" dirty="0"/>
          </a:p>
        </p:txBody>
      </p:sp>
      <p:sp>
        <p:nvSpPr>
          <p:cNvPr id="20" name="Text 18"/>
          <p:cNvSpPr/>
          <p:nvPr/>
        </p:nvSpPr>
        <p:spPr>
          <a:xfrm>
            <a:off x="548640" y="3657600"/>
            <a:ext cx="5486400" cy="1371600"/>
          </a:xfrm>
          <a:prstGeom prst="rect">
            <a:avLst/>
          </a:prstGeom>
          <a:noFill/>
        </p:spPr>
        <p:txBody>
          <a:bodyPr wrap="square" lIns="0" tIns="0" rIns="0" bIns="0" rtlCol="0" anchor="ctr"/>
          <a:lstStyle/>
          <a:p>
            <a:r>
              <a:rPr lang="en-IN" sz="1400" dirty="0"/>
              <a:t>The system replaces manual attendance processes with a structured digital workflow. It centralizes employee and attendance information, simplifies attendance recording, correction handling, and report generation, and uses authentication and role-based access to provide secure access to different users.</a:t>
            </a:r>
            <a:endParaRPr lang="en-US" sz="1300" dirty="0"/>
          </a:p>
        </p:txBody>
      </p:sp>
      <p:sp>
        <p:nvSpPr>
          <p:cNvPr id="21" name="Text 19"/>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[Student Name(s)]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TECHNOLOGY STACK</a:t>
            </a:r>
            <a:endParaRPr lang="en-US" sz="1300" dirty="0"/>
          </a:p>
        </p:txBody>
      </p:sp>
      <p:sp>
        <p:nvSpPr>
          <p:cNvPr id="5" name="Shape 3"/>
          <p:cNvSpPr/>
          <p:nvPr/>
        </p:nvSpPr>
        <p:spPr>
          <a:xfrm>
            <a:off x="548640" y="1463040"/>
            <a:ext cx="3566160" cy="1737360"/>
          </a:xfrm>
          <a:prstGeom prst="roundRect">
            <a:avLst>
              <a:gd name="adj" fmla="val 5263"/>
            </a:avLst>
          </a:prstGeom>
          <a:solidFill>
            <a:srgbClr val="EEF3FD"/>
          </a:solidFill>
        </p:spPr>
      </p:sp>
      <p:sp>
        <p:nvSpPr>
          <p:cNvPr id="6" name="Text 4"/>
          <p:cNvSpPr/>
          <p:nvPr/>
        </p:nvSpPr>
        <p:spPr>
          <a:xfrm>
            <a:off x="777240" y="164592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Frontend</a:t>
            </a:r>
            <a:endParaRPr lang="en-US" sz="1400" dirty="0"/>
          </a:p>
        </p:txBody>
      </p:sp>
      <p:sp>
        <p:nvSpPr>
          <p:cNvPr id="7" name="Text 5"/>
          <p:cNvSpPr/>
          <p:nvPr/>
        </p:nvSpPr>
        <p:spPr>
          <a:xfrm>
            <a:off x="777240" y="2194560"/>
            <a:ext cx="3108960" cy="822960"/>
          </a:xfrm>
          <a:prstGeom prst="rect">
            <a:avLst/>
          </a:prstGeom>
          <a:noFill/>
        </p:spPr>
        <p:txBody>
          <a:bodyPr wrap="square" lIns="0" tIns="0" rIns="0" bIns="0" rtlCol="0" anchor="ctr"/>
          <a:lstStyle/>
          <a:p>
            <a:pPr lvl="0"/>
            <a:r>
              <a:rPr lang="en-IN" sz="1400" dirty="0"/>
              <a:t>React.js </a:t>
            </a:r>
          </a:p>
          <a:p>
            <a:pPr lvl="0"/>
            <a:r>
              <a:rPr lang="en-IN" sz="1400" dirty="0"/>
              <a:t>JavaScript </a:t>
            </a:r>
          </a:p>
          <a:p>
            <a:pPr lvl="0"/>
            <a:r>
              <a:rPr lang="en-IN" sz="1400" dirty="0"/>
              <a:t>CSS</a:t>
            </a:r>
          </a:p>
        </p:txBody>
      </p:sp>
      <p:sp>
        <p:nvSpPr>
          <p:cNvPr id="8" name="Shape 6"/>
          <p:cNvSpPr/>
          <p:nvPr/>
        </p:nvSpPr>
        <p:spPr>
          <a:xfrm>
            <a:off x="4334256" y="1463040"/>
            <a:ext cx="3566160" cy="1737360"/>
          </a:xfrm>
          <a:prstGeom prst="roundRect">
            <a:avLst>
              <a:gd name="adj" fmla="val 5263"/>
            </a:avLst>
          </a:prstGeom>
          <a:solidFill>
            <a:srgbClr val="EEF3FD"/>
          </a:solidFill>
        </p:spPr>
      </p:sp>
      <p:sp>
        <p:nvSpPr>
          <p:cNvPr id="9" name="Text 7"/>
          <p:cNvSpPr/>
          <p:nvPr/>
        </p:nvSpPr>
        <p:spPr>
          <a:xfrm>
            <a:off x="4562856" y="164592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Backend</a:t>
            </a:r>
            <a:endParaRPr lang="en-US" sz="1400" dirty="0"/>
          </a:p>
        </p:txBody>
      </p:sp>
      <p:sp>
        <p:nvSpPr>
          <p:cNvPr id="10" name="Text 8"/>
          <p:cNvSpPr/>
          <p:nvPr/>
        </p:nvSpPr>
        <p:spPr>
          <a:xfrm>
            <a:off x="4562856" y="2194560"/>
            <a:ext cx="3108960" cy="822960"/>
          </a:xfrm>
          <a:prstGeom prst="rect">
            <a:avLst/>
          </a:prstGeom>
          <a:noFill/>
        </p:spPr>
        <p:txBody>
          <a:bodyPr wrap="square" lIns="0" tIns="0" rIns="0" bIns="0" rtlCol="0" anchor="ctr"/>
          <a:lstStyle/>
          <a:p>
            <a:pPr lvl="0"/>
            <a:r>
              <a:rPr lang="en-IN" sz="1400" dirty="0"/>
              <a:t>Java </a:t>
            </a:r>
          </a:p>
          <a:p>
            <a:pPr lvl="0"/>
            <a:r>
              <a:rPr lang="en-IN" sz="1400" dirty="0"/>
              <a:t>Spring Boot </a:t>
            </a:r>
          </a:p>
          <a:p>
            <a:pPr lvl="0"/>
            <a:r>
              <a:rPr lang="en-IN" sz="1400" dirty="0"/>
              <a:t>Spring Security</a:t>
            </a:r>
          </a:p>
        </p:txBody>
      </p:sp>
      <p:sp>
        <p:nvSpPr>
          <p:cNvPr id="11" name="Shape 9"/>
          <p:cNvSpPr/>
          <p:nvPr/>
        </p:nvSpPr>
        <p:spPr>
          <a:xfrm>
            <a:off x="8119872" y="1463040"/>
            <a:ext cx="3566160" cy="1737360"/>
          </a:xfrm>
          <a:prstGeom prst="roundRect">
            <a:avLst>
              <a:gd name="adj" fmla="val 5263"/>
            </a:avLst>
          </a:prstGeom>
          <a:solidFill>
            <a:srgbClr val="EEF3FD"/>
          </a:solidFill>
        </p:spPr>
      </p:sp>
      <p:sp>
        <p:nvSpPr>
          <p:cNvPr id="12" name="Text 10"/>
          <p:cNvSpPr/>
          <p:nvPr/>
        </p:nvSpPr>
        <p:spPr>
          <a:xfrm>
            <a:off x="8348472" y="164592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Database</a:t>
            </a:r>
            <a:endParaRPr lang="en-US" sz="1400" dirty="0"/>
          </a:p>
        </p:txBody>
      </p:sp>
      <p:sp>
        <p:nvSpPr>
          <p:cNvPr id="13" name="Text 11"/>
          <p:cNvSpPr/>
          <p:nvPr/>
        </p:nvSpPr>
        <p:spPr>
          <a:xfrm>
            <a:off x="8348472" y="2194560"/>
            <a:ext cx="3108960" cy="822960"/>
          </a:xfrm>
          <a:prstGeom prst="rect">
            <a:avLst/>
          </a:prstGeom>
          <a:noFill/>
        </p:spPr>
        <p:txBody>
          <a:bodyPr wrap="square" lIns="0" tIns="0" rIns="0" bIns="0" rtlCol="0" anchor="ctr"/>
          <a:lstStyle/>
          <a:p>
            <a:pPr lvl="0"/>
            <a:r>
              <a:rPr lang="en-IN" sz="1400" dirty="0"/>
              <a:t>MySQL 8.0.41 </a:t>
            </a:r>
          </a:p>
          <a:p>
            <a:pPr lvl="0"/>
            <a:r>
              <a:rPr lang="en-IN" sz="1400" dirty="0"/>
              <a:t>Relational Database </a:t>
            </a:r>
          </a:p>
          <a:p>
            <a:pPr lvl="0"/>
            <a:r>
              <a:rPr lang="en-IN" sz="1400" dirty="0"/>
              <a:t>JPA Entities</a:t>
            </a:r>
          </a:p>
        </p:txBody>
      </p:sp>
      <p:sp>
        <p:nvSpPr>
          <p:cNvPr id="14" name="Shape 12"/>
          <p:cNvSpPr/>
          <p:nvPr/>
        </p:nvSpPr>
        <p:spPr>
          <a:xfrm>
            <a:off x="548640" y="3383280"/>
            <a:ext cx="3566160" cy="1737360"/>
          </a:xfrm>
          <a:prstGeom prst="roundRect">
            <a:avLst>
              <a:gd name="adj" fmla="val 5263"/>
            </a:avLst>
          </a:prstGeom>
          <a:solidFill>
            <a:srgbClr val="EEF3FD"/>
          </a:solidFill>
        </p:spPr>
      </p:sp>
      <p:sp>
        <p:nvSpPr>
          <p:cNvPr id="15" name="Text 13"/>
          <p:cNvSpPr/>
          <p:nvPr/>
        </p:nvSpPr>
        <p:spPr>
          <a:xfrm>
            <a:off x="777240" y="356616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APIs / libraries / frameworks</a:t>
            </a:r>
            <a:endParaRPr lang="en-US" sz="1400" dirty="0"/>
          </a:p>
        </p:txBody>
      </p:sp>
      <p:sp>
        <p:nvSpPr>
          <p:cNvPr id="16" name="Text 14"/>
          <p:cNvSpPr/>
          <p:nvPr/>
        </p:nvSpPr>
        <p:spPr>
          <a:xfrm>
            <a:off x="777240" y="4114800"/>
            <a:ext cx="3108960" cy="822960"/>
          </a:xfrm>
          <a:prstGeom prst="rect">
            <a:avLst/>
          </a:prstGeom>
          <a:noFill/>
        </p:spPr>
        <p:txBody>
          <a:bodyPr wrap="square" lIns="0" tIns="0" rIns="0" bIns="0" rtlCol="0" anchor="ctr"/>
          <a:lstStyle/>
          <a:p>
            <a:pPr lvl="0"/>
            <a:r>
              <a:rPr lang="en-IN" sz="1400" dirty="0"/>
              <a:t>Spring Data JPA </a:t>
            </a:r>
          </a:p>
          <a:p>
            <a:pPr lvl="0"/>
            <a:r>
              <a:rPr lang="en-IN" sz="1400" dirty="0"/>
              <a:t>JWT </a:t>
            </a:r>
          </a:p>
          <a:p>
            <a:pPr lvl="0"/>
            <a:r>
              <a:rPr lang="en-IN" sz="1400" dirty="0"/>
              <a:t>Swagger / </a:t>
            </a:r>
            <a:r>
              <a:rPr lang="en-IN" sz="1400" dirty="0" err="1"/>
              <a:t>OpenAPI</a:t>
            </a:r>
            <a:r>
              <a:rPr lang="en-IN" sz="1400" dirty="0"/>
              <a:t> </a:t>
            </a:r>
          </a:p>
          <a:p>
            <a:pPr lvl="0"/>
            <a:r>
              <a:rPr lang="en-IN" sz="1400" dirty="0"/>
              <a:t>REST API</a:t>
            </a:r>
          </a:p>
        </p:txBody>
      </p:sp>
      <p:sp>
        <p:nvSpPr>
          <p:cNvPr id="17" name="Shape 15"/>
          <p:cNvSpPr/>
          <p:nvPr/>
        </p:nvSpPr>
        <p:spPr>
          <a:xfrm>
            <a:off x="4334256" y="3383280"/>
            <a:ext cx="3566160" cy="1737360"/>
          </a:xfrm>
          <a:prstGeom prst="roundRect">
            <a:avLst>
              <a:gd name="adj" fmla="val 5263"/>
            </a:avLst>
          </a:prstGeom>
          <a:solidFill>
            <a:srgbClr val="EEF3FD"/>
          </a:solidFill>
        </p:spPr>
      </p:sp>
      <p:sp>
        <p:nvSpPr>
          <p:cNvPr id="18" name="Text 16"/>
          <p:cNvSpPr/>
          <p:nvPr/>
        </p:nvSpPr>
        <p:spPr>
          <a:xfrm>
            <a:off x="4562856" y="356616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Development tools</a:t>
            </a:r>
            <a:endParaRPr lang="en-US" sz="1400" dirty="0"/>
          </a:p>
        </p:txBody>
      </p:sp>
      <p:sp>
        <p:nvSpPr>
          <p:cNvPr id="19" name="Text 17"/>
          <p:cNvSpPr/>
          <p:nvPr/>
        </p:nvSpPr>
        <p:spPr>
          <a:xfrm>
            <a:off x="4562856" y="4114800"/>
            <a:ext cx="3108960" cy="822960"/>
          </a:xfrm>
          <a:prstGeom prst="rect">
            <a:avLst/>
          </a:prstGeom>
          <a:noFill/>
        </p:spPr>
        <p:txBody>
          <a:bodyPr wrap="square" lIns="0" tIns="0" rIns="0" bIns="0" rtlCol="0" anchor="ctr"/>
          <a:lstStyle/>
          <a:p>
            <a:pPr lvl="0"/>
            <a:r>
              <a:rPr lang="en-IN" sz="1400" dirty="0"/>
              <a:t>VS Code </a:t>
            </a:r>
          </a:p>
          <a:p>
            <a:pPr lvl="0"/>
            <a:r>
              <a:rPr lang="en-IN" sz="1400" dirty="0"/>
              <a:t>MySQL Workbench </a:t>
            </a:r>
          </a:p>
          <a:p>
            <a:pPr lvl="0"/>
            <a:r>
              <a:rPr lang="en-IN" sz="1400" dirty="0"/>
              <a:t>Postman </a:t>
            </a:r>
          </a:p>
          <a:p>
            <a:pPr lvl="0"/>
            <a:r>
              <a:rPr lang="en-IN" sz="1400" dirty="0"/>
              <a:t>Git &amp; GitHub</a:t>
            </a:r>
          </a:p>
        </p:txBody>
      </p:sp>
      <p:sp>
        <p:nvSpPr>
          <p:cNvPr id="20" name="Shape 18"/>
          <p:cNvSpPr/>
          <p:nvPr/>
        </p:nvSpPr>
        <p:spPr>
          <a:xfrm>
            <a:off x="8119872" y="3383280"/>
            <a:ext cx="3566160" cy="1737360"/>
          </a:xfrm>
          <a:prstGeom prst="roundRect">
            <a:avLst>
              <a:gd name="adj" fmla="val 5263"/>
            </a:avLst>
          </a:prstGeom>
          <a:solidFill>
            <a:srgbClr val="EEF3FD"/>
          </a:solidFill>
        </p:spPr>
      </p:sp>
      <p:sp>
        <p:nvSpPr>
          <p:cNvPr id="21" name="Text 19"/>
          <p:cNvSpPr/>
          <p:nvPr/>
        </p:nvSpPr>
        <p:spPr>
          <a:xfrm>
            <a:off x="8348472" y="356616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Other</a:t>
            </a:r>
            <a:endParaRPr lang="en-US" sz="1400" dirty="0"/>
          </a:p>
        </p:txBody>
      </p:sp>
      <p:sp>
        <p:nvSpPr>
          <p:cNvPr id="22" name="Text 20"/>
          <p:cNvSpPr/>
          <p:nvPr/>
        </p:nvSpPr>
        <p:spPr>
          <a:xfrm>
            <a:off x="8348472" y="4114800"/>
            <a:ext cx="3108960" cy="822960"/>
          </a:xfrm>
          <a:prstGeom prst="rect">
            <a:avLst/>
          </a:prstGeom>
          <a:noFill/>
        </p:spPr>
        <p:txBody>
          <a:bodyPr wrap="square" lIns="0" tIns="0" rIns="0" bIns="0" rtlCol="0" anchor="ctr"/>
          <a:lstStyle/>
          <a:p>
            <a:pPr lvl="0"/>
            <a:r>
              <a:rPr lang="en-IN" sz="1400" dirty="0"/>
              <a:t>Maven </a:t>
            </a:r>
          </a:p>
          <a:p>
            <a:pPr lvl="0"/>
            <a:r>
              <a:rPr lang="en-IN" sz="1400" dirty="0"/>
              <a:t>React Router </a:t>
            </a:r>
          </a:p>
          <a:p>
            <a:pPr lvl="0"/>
            <a:r>
              <a:rPr lang="en-IN" sz="1400" dirty="0"/>
              <a:t>Axios</a:t>
            </a:r>
          </a:p>
        </p:txBody>
      </p:sp>
      <p:sp>
        <p:nvSpPr>
          <p:cNvPr id="23" name="Text 21"/>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[Student Name(s)]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3FD"/>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300" dirty="0"/>
          </a:p>
        </p:txBody>
      </p:sp>
      <p:sp>
        <p:nvSpPr>
          <p:cNvPr id="5" name="Shape 3"/>
          <p:cNvSpPr/>
          <p:nvPr/>
        </p:nvSpPr>
        <p:spPr>
          <a:xfrm>
            <a:off x="548640" y="1828800"/>
            <a:ext cx="2377440" cy="1005840"/>
          </a:xfrm>
          <a:prstGeom prst="roundRect">
            <a:avLst>
              <a:gd name="adj" fmla="val 9091"/>
            </a:avLst>
          </a:prstGeom>
          <a:solidFill>
            <a:srgbClr val="FFFFFF"/>
          </a:solidFill>
          <a:ln w="19050">
            <a:solidFill>
              <a:srgbClr val="1E2761"/>
            </a:solidFill>
            <a:prstDash val="solid"/>
          </a:ln>
        </p:spPr>
      </p:sp>
      <p:sp>
        <p:nvSpPr>
          <p:cNvPr id="6" name="Text 4"/>
          <p:cNvSpPr/>
          <p:nvPr/>
        </p:nvSpPr>
        <p:spPr>
          <a:xfrm>
            <a:off x="548640" y="1828800"/>
            <a:ext cx="2377440" cy="41148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Frontend</a:t>
            </a:r>
            <a:endParaRPr lang="en-US" sz="1300" dirty="0"/>
          </a:p>
        </p:txBody>
      </p:sp>
      <p:sp>
        <p:nvSpPr>
          <p:cNvPr id="7" name="Text 5"/>
          <p:cNvSpPr/>
          <p:nvPr/>
        </p:nvSpPr>
        <p:spPr>
          <a:xfrm>
            <a:off x="548640" y="2308860"/>
            <a:ext cx="2377440" cy="457200"/>
          </a:xfrm>
          <a:prstGeom prst="rect">
            <a:avLst/>
          </a:prstGeom>
          <a:noFill/>
        </p:spPr>
        <p:txBody>
          <a:bodyPr wrap="square" lIns="0" tIns="0" rIns="0" bIns="0" rtlCol="0" anchor="t"/>
          <a:lstStyle/>
          <a:p>
            <a:pPr algn="ctr"/>
            <a:r>
              <a:rPr lang="en-IN" sz="1050" b="1" dirty="0"/>
              <a:t>React.js Web Application</a:t>
            </a:r>
            <a:br>
              <a:rPr lang="en-IN" sz="1050" dirty="0"/>
            </a:br>
            <a:r>
              <a:rPr lang="en-IN" sz="1050" dirty="0"/>
              <a:t>Administrator &amp; Employee UI</a:t>
            </a:r>
            <a:br>
              <a:rPr lang="en-IN" sz="1050" dirty="0"/>
            </a:br>
            <a:r>
              <a:rPr lang="en-IN" sz="1050" dirty="0"/>
              <a:t>Axios / REST Requests</a:t>
            </a:r>
            <a:endParaRPr lang="en-US" sz="1050" dirty="0"/>
          </a:p>
        </p:txBody>
      </p:sp>
      <p:sp>
        <p:nvSpPr>
          <p:cNvPr id="8" name="Shape 6"/>
          <p:cNvSpPr/>
          <p:nvPr/>
        </p:nvSpPr>
        <p:spPr>
          <a:xfrm>
            <a:off x="2980944" y="2240280"/>
            <a:ext cx="576072" cy="182880"/>
          </a:xfrm>
          <a:prstGeom prst="rightArrow">
            <a:avLst/>
          </a:prstGeom>
          <a:solidFill>
            <a:srgbClr val="E8A33D"/>
          </a:solidFill>
        </p:spPr>
      </p:sp>
      <p:sp>
        <p:nvSpPr>
          <p:cNvPr id="9" name="Shape 7"/>
          <p:cNvSpPr/>
          <p:nvPr/>
        </p:nvSpPr>
        <p:spPr>
          <a:xfrm>
            <a:off x="3611880" y="1828800"/>
            <a:ext cx="2377440" cy="1005840"/>
          </a:xfrm>
          <a:prstGeom prst="roundRect">
            <a:avLst>
              <a:gd name="adj" fmla="val 9091"/>
            </a:avLst>
          </a:prstGeom>
          <a:solidFill>
            <a:srgbClr val="FFFFFF"/>
          </a:solidFill>
          <a:ln w="19050">
            <a:solidFill>
              <a:srgbClr val="1E2761"/>
            </a:solidFill>
            <a:prstDash val="solid"/>
          </a:ln>
        </p:spPr>
      </p:sp>
      <p:sp>
        <p:nvSpPr>
          <p:cNvPr id="10" name="Text 8"/>
          <p:cNvSpPr/>
          <p:nvPr/>
        </p:nvSpPr>
        <p:spPr>
          <a:xfrm>
            <a:off x="3611880" y="1828800"/>
            <a:ext cx="2377440" cy="41148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Backend</a:t>
            </a:r>
            <a:endParaRPr lang="en-US" sz="1300" dirty="0"/>
          </a:p>
        </p:txBody>
      </p:sp>
      <p:sp>
        <p:nvSpPr>
          <p:cNvPr id="11" name="Text 9"/>
          <p:cNvSpPr/>
          <p:nvPr/>
        </p:nvSpPr>
        <p:spPr>
          <a:xfrm>
            <a:off x="3611880" y="2263777"/>
            <a:ext cx="2377440" cy="457200"/>
          </a:xfrm>
          <a:prstGeom prst="rect">
            <a:avLst/>
          </a:prstGeom>
          <a:noFill/>
        </p:spPr>
        <p:txBody>
          <a:bodyPr wrap="square" lIns="0" tIns="0" rIns="0" bIns="0" rtlCol="0" anchor="t"/>
          <a:lstStyle/>
          <a:p>
            <a:pPr algn="ctr"/>
            <a:r>
              <a:rPr lang="en-IN" sz="1050" b="1" dirty="0"/>
              <a:t>Spring Boot REST API</a:t>
            </a:r>
            <a:br>
              <a:rPr lang="en-IN" sz="1050" dirty="0"/>
            </a:br>
            <a:r>
              <a:rPr lang="en-IN" sz="1050" dirty="0"/>
              <a:t>Controller → Service → Repository</a:t>
            </a:r>
            <a:br>
              <a:rPr lang="en-IN" sz="1050" dirty="0"/>
            </a:br>
            <a:r>
              <a:rPr lang="en-IN" sz="1050" dirty="0"/>
              <a:t>Spring Security + JWT</a:t>
            </a:r>
            <a:endParaRPr lang="en-US" sz="1050" dirty="0"/>
          </a:p>
        </p:txBody>
      </p:sp>
      <p:sp>
        <p:nvSpPr>
          <p:cNvPr id="12" name="Shape 10"/>
          <p:cNvSpPr/>
          <p:nvPr/>
        </p:nvSpPr>
        <p:spPr>
          <a:xfrm>
            <a:off x="6044184" y="2240280"/>
            <a:ext cx="576072" cy="182880"/>
          </a:xfrm>
          <a:prstGeom prst="rightArrow">
            <a:avLst/>
          </a:prstGeom>
          <a:solidFill>
            <a:srgbClr val="E8A33D"/>
          </a:solidFill>
        </p:spPr>
      </p:sp>
      <p:sp>
        <p:nvSpPr>
          <p:cNvPr id="13" name="Shape 11"/>
          <p:cNvSpPr/>
          <p:nvPr/>
        </p:nvSpPr>
        <p:spPr>
          <a:xfrm>
            <a:off x="6675120" y="1828800"/>
            <a:ext cx="2377440" cy="1005840"/>
          </a:xfrm>
          <a:prstGeom prst="roundRect">
            <a:avLst>
              <a:gd name="adj" fmla="val 9091"/>
            </a:avLst>
          </a:prstGeom>
          <a:solidFill>
            <a:srgbClr val="FFFFFF"/>
          </a:solidFill>
          <a:ln w="19050">
            <a:solidFill>
              <a:srgbClr val="1E2761"/>
            </a:solidFill>
            <a:prstDash val="solid"/>
          </a:ln>
        </p:spPr>
      </p:sp>
      <p:sp>
        <p:nvSpPr>
          <p:cNvPr id="14" name="Text 12"/>
          <p:cNvSpPr/>
          <p:nvPr/>
        </p:nvSpPr>
        <p:spPr>
          <a:xfrm>
            <a:off x="6675120" y="1828800"/>
            <a:ext cx="2377440" cy="41148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Database</a:t>
            </a:r>
            <a:endParaRPr lang="en-US" sz="1300" dirty="0"/>
          </a:p>
        </p:txBody>
      </p:sp>
      <p:sp>
        <p:nvSpPr>
          <p:cNvPr id="15" name="Text 13"/>
          <p:cNvSpPr/>
          <p:nvPr/>
        </p:nvSpPr>
        <p:spPr>
          <a:xfrm>
            <a:off x="6675120" y="2249424"/>
            <a:ext cx="2377440" cy="457200"/>
          </a:xfrm>
          <a:prstGeom prst="rect">
            <a:avLst/>
          </a:prstGeom>
          <a:noFill/>
        </p:spPr>
        <p:txBody>
          <a:bodyPr wrap="square" lIns="0" tIns="0" rIns="0" bIns="0" rtlCol="0" anchor="t"/>
          <a:lstStyle/>
          <a:p>
            <a:pPr algn="ctr"/>
            <a:r>
              <a:rPr lang="en-IN" sz="1050" b="1" dirty="0"/>
              <a:t>MySQL 8.0.41</a:t>
            </a:r>
            <a:br>
              <a:rPr lang="en-IN" sz="1050" dirty="0"/>
            </a:br>
            <a:r>
              <a:rPr lang="en-IN" sz="1050" dirty="0"/>
              <a:t>Employee • Attendance • User</a:t>
            </a:r>
            <a:br>
              <a:rPr lang="en-IN" sz="1050" dirty="0"/>
            </a:br>
            <a:r>
              <a:rPr lang="en-IN" sz="1050" dirty="0"/>
              <a:t>Correction • Holiday • Role</a:t>
            </a:r>
            <a:endParaRPr lang="en-US" sz="1050" dirty="0"/>
          </a:p>
        </p:txBody>
      </p:sp>
      <p:sp>
        <p:nvSpPr>
          <p:cNvPr id="16" name="Shape 14"/>
          <p:cNvSpPr/>
          <p:nvPr/>
        </p:nvSpPr>
        <p:spPr>
          <a:xfrm>
            <a:off x="9107424" y="2240280"/>
            <a:ext cx="576072" cy="182880"/>
          </a:xfrm>
          <a:prstGeom prst="rightArrow">
            <a:avLst/>
          </a:prstGeom>
          <a:solidFill>
            <a:srgbClr val="E8A33D"/>
          </a:solidFill>
        </p:spPr>
      </p:sp>
      <p:sp>
        <p:nvSpPr>
          <p:cNvPr id="17" name="Shape 15"/>
          <p:cNvSpPr/>
          <p:nvPr/>
        </p:nvSpPr>
        <p:spPr>
          <a:xfrm>
            <a:off x="9738360" y="1828800"/>
            <a:ext cx="2377440" cy="1005840"/>
          </a:xfrm>
          <a:prstGeom prst="roundRect">
            <a:avLst>
              <a:gd name="adj" fmla="val 9091"/>
            </a:avLst>
          </a:prstGeom>
          <a:solidFill>
            <a:srgbClr val="FFFFFF"/>
          </a:solidFill>
          <a:ln w="19050">
            <a:solidFill>
              <a:srgbClr val="1E2761"/>
            </a:solidFill>
            <a:prstDash val="solid"/>
          </a:ln>
        </p:spPr>
      </p:sp>
      <p:sp>
        <p:nvSpPr>
          <p:cNvPr id="18" name="Text 16"/>
          <p:cNvSpPr/>
          <p:nvPr/>
        </p:nvSpPr>
        <p:spPr>
          <a:xfrm>
            <a:off x="9738360" y="1828800"/>
            <a:ext cx="2377440" cy="41148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External</a:t>
            </a:r>
            <a:endParaRPr lang="en-US" sz="1300" dirty="0"/>
          </a:p>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services / APIs</a:t>
            </a:r>
            <a:endParaRPr lang="en-US" sz="1300" dirty="0"/>
          </a:p>
        </p:txBody>
      </p:sp>
      <p:sp>
        <p:nvSpPr>
          <p:cNvPr id="19" name="Text 17"/>
          <p:cNvSpPr/>
          <p:nvPr/>
        </p:nvSpPr>
        <p:spPr>
          <a:xfrm>
            <a:off x="9738360" y="2331720"/>
            <a:ext cx="2377440" cy="457200"/>
          </a:xfrm>
          <a:prstGeom prst="rect">
            <a:avLst/>
          </a:prstGeom>
          <a:noFill/>
        </p:spPr>
        <p:txBody>
          <a:bodyPr wrap="square" lIns="0" tIns="0" rIns="0" bIns="0" rtlCol="0" anchor="t"/>
          <a:lstStyle/>
          <a:p>
            <a:pPr algn="ctr"/>
            <a:r>
              <a:rPr lang="en-IN" sz="1050" b="1" dirty="0"/>
              <a:t>Swagger / </a:t>
            </a:r>
            <a:r>
              <a:rPr lang="en-IN" sz="1050" b="1" dirty="0" err="1"/>
              <a:t>OpenAPI</a:t>
            </a:r>
            <a:br>
              <a:rPr lang="en-IN" sz="1050" dirty="0"/>
            </a:br>
            <a:r>
              <a:rPr lang="en-IN" sz="1050" dirty="0"/>
              <a:t>REST API Documentation &amp; Testing</a:t>
            </a:r>
            <a:endParaRPr lang="en-US" sz="1050" dirty="0"/>
          </a:p>
        </p:txBody>
      </p:sp>
      <p:sp>
        <p:nvSpPr>
          <p:cNvPr id="20" name="Shape 18"/>
          <p:cNvSpPr/>
          <p:nvPr/>
        </p:nvSpPr>
        <p:spPr>
          <a:xfrm>
            <a:off x="548640" y="3383280"/>
            <a:ext cx="11091672" cy="2651760"/>
          </a:xfrm>
          <a:prstGeom prst="roundRect">
            <a:avLst>
              <a:gd name="adj" fmla="val 3448"/>
            </a:avLst>
          </a:prstGeom>
          <a:solidFill>
            <a:srgbClr val="FFFFFF"/>
          </a:solidFill>
          <a:ln w="12700">
            <a:solidFill>
              <a:srgbClr val="CADCFC"/>
            </a:solidFill>
            <a:prstDash val="solid"/>
          </a:ln>
        </p:spPr>
      </p:sp>
      <p:sp>
        <p:nvSpPr>
          <p:cNvPr id="21" name="Text 19"/>
          <p:cNvSpPr/>
          <p:nvPr/>
        </p:nvSpPr>
        <p:spPr>
          <a:xfrm>
            <a:off x="822960" y="3611880"/>
            <a:ext cx="105156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 flow description</a:t>
            </a:r>
            <a:endParaRPr lang="en-US" sz="1400" dirty="0"/>
          </a:p>
        </p:txBody>
      </p:sp>
      <p:sp>
        <p:nvSpPr>
          <p:cNvPr id="22" name="Text 20"/>
          <p:cNvSpPr/>
          <p:nvPr/>
        </p:nvSpPr>
        <p:spPr>
          <a:xfrm>
            <a:off x="822960" y="4069080"/>
            <a:ext cx="10384302" cy="1737360"/>
          </a:xfrm>
          <a:prstGeom prst="rect">
            <a:avLst/>
          </a:prstGeom>
          <a:noFill/>
        </p:spPr>
        <p:txBody>
          <a:bodyPr wrap="square" lIns="0" tIns="0" rIns="0" bIns="0" rtlCol="0" anchor="ctr"/>
          <a:lstStyle/>
          <a:p>
            <a:r>
              <a:rPr lang="en-IN" sz="1400" dirty="0"/>
              <a:t>1. User interacts with the React.js frontend.</a:t>
            </a:r>
            <a:br>
              <a:rPr lang="en-IN" sz="1400" dirty="0"/>
            </a:br>
            <a:r>
              <a:rPr lang="en-IN" sz="1400" dirty="0"/>
              <a:t>2. Frontend sends HTTP/JSON requests to Spring Boot REST APIs.</a:t>
            </a:r>
            <a:br>
              <a:rPr lang="en-IN" sz="1400" dirty="0"/>
            </a:br>
            <a:r>
              <a:rPr lang="en-IN" sz="1400" dirty="0"/>
              <a:t>3. Spring Security validates the JWT and authorizes the user's role.</a:t>
            </a:r>
            <a:br>
              <a:rPr lang="en-IN" sz="1400" dirty="0"/>
            </a:br>
            <a:r>
              <a:rPr lang="en-IN" sz="1400" dirty="0"/>
              <a:t>4. Controllers forward requests to the Service layer for business logic.</a:t>
            </a:r>
            <a:br>
              <a:rPr lang="en-IN" sz="1400" dirty="0"/>
            </a:br>
            <a:r>
              <a:rPr lang="en-IN" sz="1400" dirty="0"/>
              <a:t>5. Repository layer uses Spring Data JPA to access MySQL.</a:t>
            </a:r>
            <a:br>
              <a:rPr lang="en-IN" sz="1400" dirty="0"/>
            </a:br>
            <a:r>
              <a:rPr lang="en-IN" sz="1400" dirty="0"/>
              <a:t>6. Backend returns JSON responses to the React frontend.</a:t>
            </a:r>
            <a:endParaRPr lang="en-US" sz="1300" dirty="0"/>
          </a:p>
        </p:txBody>
      </p:sp>
      <p:sp>
        <p:nvSpPr>
          <p:cNvPr id="23" name="Text 21"/>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MODULES / FEATURES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483422286"/>
              </p:ext>
            </p:extLst>
          </p:nvPr>
        </p:nvGraphicFramePr>
        <p:xfrm>
          <a:off x="548640" y="1463040"/>
          <a:ext cx="11091672" cy="4663440"/>
        </p:xfrm>
        <a:graphic>
          <a:graphicData uri="http://schemas.openxmlformats.org/drawingml/2006/table">
            <a:tbl>
              <a:tblPr/>
              <a:tblGrid>
                <a:gridCol w="3291840">
                  <a:extLst>
                    <a:ext uri="{9D8B030D-6E8A-4147-A177-3AD203B41FA5}">
                      <a16:colId xmlns:a16="http://schemas.microsoft.com/office/drawing/2014/main" val="20000"/>
                    </a:ext>
                  </a:extLst>
                </a:gridCol>
                <a:gridCol w="7799832">
                  <a:extLst>
                    <a:ext uri="{9D8B030D-6E8A-4147-A177-3AD203B41FA5}">
                      <a16:colId xmlns:a16="http://schemas.microsoft.com/office/drawing/2014/main" val="20001"/>
                    </a:ext>
                  </a:extLst>
                </a:gridCol>
              </a:tblGrid>
              <a:tr h="77724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Module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Purpose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IN" sz="1400" dirty="0"/>
                        <a:t>User Management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IN" sz="1400" dirty="0"/>
                        <a:t>Registration, login &amp; role-based access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IN" sz="1400" dirty="0"/>
                        <a:t>Restaurant Management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IN" sz="1400" dirty="0"/>
                        <a:t>Manage employee details &amp; departments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IN" sz="1400" dirty="0"/>
                        <a:t>Attendance Management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IN" sz="1400" dirty="0"/>
                        <a:t>Check-in, check-out &amp; attendance tracking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IN" sz="1400" dirty="0"/>
                        <a:t>Attendance Reporting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IN" sz="1400" dirty="0"/>
                        <a:t>Monthly reports, work hours &amp; attendance summaries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IN" sz="1400" dirty="0"/>
                        <a:t>Correction &amp; Holiday Management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IN" sz="1400" dirty="0"/>
                        <a:t>Manage attendance corrections &amp; organizational holidays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3FD"/>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DATABASE / DATA MODEL</a:t>
            </a:r>
            <a:endParaRPr lang="en-US" sz="1300" dirty="0"/>
          </a:p>
        </p:txBody>
      </p:sp>
      <p:sp>
        <p:nvSpPr>
          <p:cNvPr id="5" name="Shape 3"/>
          <p:cNvSpPr/>
          <p:nvPr/>
        </p:nvSpPr>
        <p:spPr>
          <a:xfrm>
            <a:off x="822960" y="1645920"/>
            <a:ext cx="2286000" cy="1371600"/>
          </a:xfrm>
          <a:prstGeom prst="roundRect">
            <a:avLst>
              <a:gd name="adj" fmla="val 5333"/>
            </a:avLst>
          </a:prstGeom>
          <a:solidFill>
            <a:srgbClr val="FFFFFF"/>
          </a:solidFill>
          <a:ln w="19050">
            <a:solidFill>
              <a:srgbClr val="1E2761"/>
            </a:solidFill>
            <a:prstDash val="solid"/>
          </a:ln>
        </p:spPr>
        <p:txBody>
          <a:bodyPr/>
          <a:lstStyle/>
          <a:p>
            <a:endParaRPr lang="en-IN"/>
          </a:p>
        </p:txBody>
      </p:sp>
      <p:sp>
        <p:nvSpPr>
          <p:cNvPr id="6" name="Text 4"/>
          <p:cNvSpPr/>
          <p:nvPr/>
        </p:nvSpPr>
        <p:spPr>
          <a:xfrm>
            <a:off x="822960" y="1755648"/>
            <a:ext cx="2286000" cy="320040"/>
          </a:xfrm>
          <a:prstGeom prst="rect">
            <a:avLst/>
          </a:prstGeom>
          <a:noFill/>
        </p:spPr>
        <p:txBody>
          <a:bodyPr wrap="square" lIns="0" tIns="0" rIns="0" bIns="0" rtlCol="0" anchor="ctr"/>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User</a:t>
            </a:r>
            <a:endParaRPr lang="en-US" sz="1300" dirty="0"/>
          </a:p>
        </p:txBody>
      </p:sp>
      <p:sp>
        <p:nvSpPr>
          <p:cNvPr id="7" name="Text 5"/>
          <p:cNvSpPr/>
          <p:nvPr/>
        </p:nvSpPr>
        <p:spPr>
          <a:xfrm>
            <a:off x="822960" y="2103120"/>
            <a:ext cx="2286000" cy="868680"/>
          </a:xfrm>
          <a:prstGeom prst="rect">
            <a:avLst/>
          </a:prstGeom>
          <a:noFill/>
        </p:spPr>
        <p:txBody>
          <a:bodyPr wrap="square" lIns="0" tIns="0" rIns="0" bIns="0" rtlCol="0" anchor="ctr"/>
          <a:lstStyle/>
          <a:p>
            <a:pPr lvl="0" algn="ctr"/>
            <a:r>
              <a:rPr lang="en-IN" sz="1050" dirty="0"/>
              <a:t>id </a:t>
            </a:r>
          </a:p>
          <a:p>
            <a:pPr lvl="0" algn="ctr"/>
            <a:r>
              <a:rPr lang="en-IN" sz="1050" dirty="0"/>
              <a:t>username </a:t>
            </a:r>
          </a:p>
          <a:p>
            <a:pPr lvl="0" algn="ctr"/>
            <a:r>
              <a:rPr lang="en-IN" sz="1050" dirty="0"/>
              <a:t>email </a:t>
            </a:r>
          </a:p>
          <a:p>
            <a:pPr lvl="0" algn="ctr"/>
            <a:r>
              <a:rPr lang="en-IN" sz="1050" dirty="0"/>
              <a:t>role</a:t>
            </a:r>
          </a:p>
        </p:txBody>
      </p:sp>
      <p:sp>
        <p:nvSpPr>
          <p:cNvPr id="8" name="Shape 6"/>
          <p:cNvSpPr/>
          <p:nvPr/>
        </p:nvSpPr>
        <p:spPr>
          <a:xfrm>
            <a:off x="5029200" y="1645920"/>
            <a:ext cx="2286000" cy="1371600"/>
          </a:xfrm>
          <a:prstGeom prst="roundRect">
            <a:avLst>
              <a:gd name="adj" fmla="val 5333"/>
            </a:avLst>
          </a:prstGeom>
          <a:solidFill>
            <a:srgbClr val="FFFFFF"/>
          </a:solidFill>
          <a:ln w="19050">
            <a:solidFill>
              <a:srgbClr val="1E2761"/>
            </a:solidFill>
            <a:prstDash val="solid"/>
          </a:ln>
        </p:spPr>
        <p:txBody>
          <a:bodyPr/>
          <a:lstStyle/>
          <a:p>
            <a:endParaRPr lang="en-IN" dirty="0"/>
          </a:p>
        </p:txBody>
      </p:sp>
      <p:sp>
        <p:nvSpPr>
          <p:cNvPr id="9" name="Text 7"/>
          <p:cNvSpPr/>
          <p:nvPr/>
        </p:nvSpPr>
        <p:spPr>
          <a:xfrm>
            <a:off x="5029200" y="1755648"/>
            <a:ext cx="2286000" cy="320040"/>
          </a:xfrm>
          <a:prstGeom prst="rect">
            <a:avLst/>
          </a:prstGeom>
          <a:noFill/>
        </p:spPr>
        <p:txBody>
          <a:bodyPr wrap="square" lIns="0" tIns="0" rIns="0" bIns="0" rtlCol="0" anchor="ctr"/>
          <a:lstStyle/>
          <a:p>
            <a:pPr algn="ct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Employee</a:t>
            </a:r>
            <a:endParaRPr lang="en-US" sz="1300" dirty="0"/>
          </a:p>
        </p:txBody>
      </p:sp>
      <p:sp>
        <p:nvSpPr>
          <p:cNvPr id="10" name="Text 8"/>
          <p:cNvSpPr/>
          <p:nvPr/>
        </p:nvSpPr>
        <p:spPr>
          <a:xfrm>
            <a:off x="5029200" y="2031492"/>
            <a:ext cx="2286000" cy="868680"/>
          </a:xfrm>
          <a:prstGeom prst="rect">
            <a:avLst/>
          </a:prstGeom>
          <a:noFill/>
        </p:spPr>
        <p:txBody>
          <a:bodyPr wrap="square" lIns="0" tIns="0" rIns="0" bIns="0" rtlCol="0" anchor="ctr"/>
          <a:lstStyle/>
          <a:p>
            <a:pPr lvl="0" algn="ctr"/>
            <a:r>
              <a:rPr lang="en-IN" sz="1050" dirty="0"/>
              <a:t>id </a:t>
            </a:r>
          </a:p>
          <a:p>
            <a:pPr lvl="0" algn="ctr"/>
            <a:r>
              <a:rPr lang="en-IN" sz="1050" dirty="0" err="1"/>
              <a:t>employeeId</a:t>
            </a:r>
            <a:r>
              <a:rPr lang="en-IN" sz="1050" dirty="0"/>
              <a:t> </a:t>
            </a:r>
          </a:p>
          <a:p>
            <a:pPr lvl="0" algn="ctr"/>
            <a:r>
              <a:rPr lang="en-IN" sz="1050" dirty="0"/>
              <a:t>name </a:t>
            </a:r>
          </a:p>
          <a:p>
            <a:pPr lvl="0" algn="ctr"/>
            <a:r>
              <a:rPr lang="en-IN" sz="1050" dirty="0"/>
              <a:t>email </a:t>
            </a:r>
          </a:p>
          <a:p>
            <a:pPr lvl="0" algn="ctr"/>
            <a:r>
              <a:rPr lang="en-IN" sz="1050" dirty="0"/>
              <a:t>department </a:t>
            </a:r>
          </a:p>
          <a:p>
            <a:pPr lvl="0" algn="ctr"/>
            <a:r>
              <a:rPr lang="en-IN" sz="1050" dirty="0" err="1"/>
              <a:t>joiningDate</a:t>
            </a:r>
            <a:r>
              <a:rPr lang="en-IN" sz="1050" dirty="0"/>
              <a:t> </a:t>
            </a:r>
          </a:p>
        </p:txBody>
      </p:sp>
      <p:sp>
        <p:nvSpPr>
          <p:cNvPr id="11" name="Shape 9"/>
          <p:cNvSpPr/>
          <p:nvPr/>
        </p:nvSpPr>
        <p:spPr>
          <a:xfrm>
            <a:off x="9235440" y="1645920"/>
            <a:ext cx="2286000" cy="1371600"/>
          </a:xfrm>
          <a:prstGeom prst="roundRect">
            <a:avLst>
              <a:gd name="adj" fmla="val 5333"/>
            </a:avLst>
          </a:prstGeom>
          <a:solidFill>
            <a:srgbClr val="FFFFFF"/>
          </a:solidFill>
          <a:ln w="19050">
            <a:solidFill>
              <a:srgbClr val="1E2761"/>
            </a:solidFill>
            <a:prstDash val="solid"/>
          </a:ln>
        </p:spPr>
      </p:sp>
      <p:sp>
        <p:nvSpPr>
          <p:cNvPr id="13" name="Text 11"/>
          <p:cNvSpPr/>
          <p:nvPr/>
        </p:nvSpPr>
        <p:spPr>
          <a:xfrm>
            <a:off x="9235440" y="2075688"/>
            <a:ext cx="2286000" cy="868680"/>
          </a:xfrm>
          <a:prstGeom prst="rect">
            <a:avLst/>
          </a:prstGeom>
          <a:noFill/>
        </p:spPr>
        <p:txBody>
          <a:bodyPr wrap="square" lIns="0" tIns="0" rIns="0" bIns="0" rtlCol="0" anchor="ctr"/>
          <a:lstStyle/>
          <a:p>
            <a:pPr lvl="0" algn="ctr"/>
            <a:r>
              <a:rPr lang="en-IN" sz="1050" dirty="0"/>
              <a:t>id </a:t>
            </a:r>
          </a:p>
          <a:p>
            <a:pPr lvl="0" algn="ctr"/>
            <a:r>
              <a:rPr lang="en-IN" sz="1050" dirty="0" err="1"/>
              <a:t>employeeId</a:t>
            </a:r>
            <a:r>
              <a:rPr lang="en-IN" sz="1050" dirty="0"/>
              <a:t> </a:t>
            </a:r>
          </a:p>
          <a:p>
            <a:pPr lvl="0" algn="ctr"/>
            <a:r>
              <a:rPr lang="en-IN" sz="1050" dirty="0" err="1"/>
              <a:t>attendanceDate</a:t>
            </a:r>
            <a:r>
              <a:rPr lang="en-IN" sz="1050" dirty="0"/>
              <a:t> </a:t>
            </a:r>
          </a:p>
          <a:p>
            <a:pPr lvl="0" algn="ctr"/>
            <a:r>
              <a:rPr lang="en-IN" sz="1050" dirty="0" err="1"/>
              <a:t>checkInTime</a:t>
            </a:r>
            <a:r>
              <a:rPr lang="en-IN" sz="1050" dirty="0"/>
              <a:t> </a:t>
            </a:r>
          </a:p>
          <a:p>
            <a:pPr lvl="0" algn="ctr"/>
            <a:r>
              <a:rPr lang="en-IN" sz="1050" dirty="0" err="1"/>
              <a:t>checkOutTime</a:t>
            </a:r>
            <a:r>
              <a:rPr lang="en-IN" sz="1050" dirty="0"/>
              <a:t> </a:t>
            </a:r>
          </a:p>
          <a:p>
            <a:pPr lvl="0" algn="ctr"/>
            <a:r>
              <a:rPr lang="en-IN" sz="1050" dirty="0" err="1"/>
              <a:t>workHours</a:t>
            </a:r>
            <a:endParaRPr lang="en-IN" sz="1050" dirty="0"/>
          </a:p>
        </p:txBody>
      </p:sp>
      <p:sp>
        <p:nvSpPr>
          <p:cNvPr id="14" name="Shape 12"/>
          <p:cNvSpPr/>
          <p:nvPr/>
        </p:nvSpPr>
        <p:spPr>
          <a:xfrm>
            <a:off x="3108960" y="2331720"/>
            <a:ext cx="1920240" cy="0"/>
          </a:xfrm>
          <a:prstGeom prst="line">
            <a:avLst/>
          </a:prstGeom>
          <a:noFill/>
          <a:ln w="25400">
            <a:solidFill>
              <a:srgbClr val="E8A33D"/>
            </a:solidFill>
            <a:prstDash val="solid"/>
          </a:ln>
        </p:spPr>
      </p:sp>
      <p:sp>
        <p:nvSpPr>
          <p:cNvPr id="15" name="Shape 13"/>
          <p:cNvSpPr/>
          <p:nvPr/>
        </p:nvSpPr>
        <p:spPr>
          <a:xfrm>
            <a:off x="7315200" y="2331720"/>
            <a:ext cx="1920240" cy="0"/>
          </a:xfrm>
          <a:prstGeom prst="line">
            <a:avLst/>
          </a:prstGeom>
          <a:noFill/>
          <a:ln w="25400">
            <a:solidFill>
              <a:srgbClr val="E8A33D"/>
            </a:solidFill>
            <a:prstDash val="solid"/>
          </a:ln>
        </p:spPr>
      </p:sp>
      <p:sp>
        <p:nvSpPr>
          <p:cNvPr id="16" name="Text 14"/>
          <p:cNvSpPr/>
          <p:nvPr/>
        </p:nvSpPr>
        <p:spPr>
          <a:xfrm>
            <a:off x="3108960" y="2039112"/>
            <a:ext cx="1920240" cy="274320"/>
          </a:xfrm>
          <a:prstGeom prst="rect">
            <a:avLst/>
          </a:prstGeom>
          <a:noFill/>
        </p:spPr>
        <p:txBody>
          <a:bodyPr wrap="square" lIns="0" tIns="0" rIns="0" bIns="0" rtlCol="0" anchor="ctr"/>
          <a:lstStyle/>
          <a:p>
            <a:pPr marL="0" indent="0" algn="ctr">
              <a:buNone/>
            </a:pPr>
            <a:r>
              <a:rPr lang="en-US" sz="1000" dirty="0"/>
              <a:t>Manages</a:t>
            </a:r>
          </a:p>
        </p:txBody>
      </p:sp>
      <p:sp>
        <p:nvSpPr>
          <p:cNvPr id="17" name="Text 15"/>
          <p:cNvSpPr/>
          <p:nvPr/>
        </p:nvSpPr>
        <p:spPr>
          <a:xfrm>
            <a:off x="7315200" y="2039112"/>
            <a:ext cx="1920240" cy="274320"/>
          </a:xfrm>
          <a:prstGeom prst="rect">
            <a:avLst/>
          </a:prstGeom>
          <a:noFill/>
        </p:spPr>
        <p:txBody>
          <a:bodyPr wrap="square" lIns="0" tIns="0" rIns="0" bIns="0" rtlCol="0" anchor="ctr"/>
          <a:lstStyle/>
          <a:p>
            <a:pPr marL="0" indent="0" algn="ctr">
              <a:buNone/>
            </a:pPr>
            <a:r>
              <a:rPr lang="en-US" sz="1000" dirty="0"/>
              <a:t>has</a:t>
            </a:r>
          </a:p>
        </p:txBody>
      </p:sp>
      <p:sp>
        <p:nvSpPr>
          <p:cNvPr id="18" name="Shape 16"/>
          <p:cNvSpPr/>
          <p:nvPr/>
        </p:nvSpPr>
        <p:spPr>
          <a:xfrm>
            <a:off x="548640" y="3383280"/>
            <a:ext cx="11091672" cy="2651760"/>
          </a:xfrm>
          <a:prstGeom prst="roundRect">
            <a:avLst>
              <a:gd name="adj" fmla="val 3448"/>
            </a:avLst>
          </a:prstGeom>
          <a:solidFill>
            <a:srgbClr val="FFFFFF"/>
          </a:solidFill>
        </p:spPr>
      </p:sp>
      <p:sp>
        <p:nvSpPr>
          <p:cNvPr id="19" name="Text 17"/>
          <p:cNvSpPr/>
          <p:nvPr/>
        </p:nvSpPr>
        <p:spPr>
          <a:xfrm>
            <a:off x="822960" y="3611880"/>
            <a:ext cx="105156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entities &amp; relationships</a:t>
            </a:r>
            <a:endParaRPr lang="en-US" sz="1400" dirty="0"/>
          </a:p>
        </p:txBody>
      </p:sp>
      <p:sp>
        <p:nvSpPr>
          <p:cNvPr id="20" name="Text 18"/>
          <p:cNvSpPr/>
          <p:nvPr/>
        </p:nvSpPr>
        <p:spPr>
          <a:xfrm>
            <a:off x="822960" y="4069080"/>
            <a:ext cx="10515600" cy="1737360"/>
          </a:xfrm>
          <a:prstGeom prst="rect">
            <a:avLst/>
          </a:prstGeom>
          <a:noFill/>
        </p:spPr>
        <p:txBody>
          <a:bodyPr wrap="square" lIns="0" tIns="0" rIns="0" bIns="0" rtlCol="0" anchor="ctr"/>
          <a:lstStyle/>
          <a:p>
            <a:pPr lvl="0"/>
            <a:r>
              <a:rPr lang="en-IN" sz="1400" b="1" dirty="0"/>
              <a:t>User → Employee:</a:t>
            </a:r>
            <a:r>
              <a:rPr lang="en-IN" sz="1400" dirty="0"/>
              <a:t> User account is associated with employee information. </a:t>
            </a:r>
          </a:p>
          <a:p>
            <a:pPr lvl="0"/>
            <a:r>
              <a:rPr lang="en-IN" sz="1400" b="1" dirty="0"/>
              <a:t>Employee → Attendance:</a:t>
            </a:r>
            <a:r>
              <a:rPr lang="en-IN" sz="1400" dirty="0"/>
              <a:t> Employee has multiple attendance records. </a:t>
            </a:r>
          </a:p>
          <a:p>
            <a:pPr lvl="0"/>
            <a:r>
              <a:rPr lang="en-IN" sz="1400" b="1" dirty="0"/>
              <a:t>Employee → Correction:</a:t>
            </a:r>
            <a:r>
              <a:rPr lang="en-IN" sz="1400" dirty="0"/>
              <a:t> Employee can submit attendance correction requests. </a:t>
            </a:r>
          </a:p>
          <a:p>
            <a:pPr lvl="0"/>
            <a:r>
              <a:rPr lang="en-IN" sz="1400" b="1" dirty="0"/>
              <a:t>User → Role:</a:t>
            </a:r>
            <a:r>
              <a:rPr lang="en-IN" sz="1400" dirty="0"/>
              <a:t> User is assigned a role for access control. </a:t>
            </a:r>
          </a:p>
          <a:p>
            <a:pPr lvl="0"/>
            <a:r>
              <a:rPr lang="en-IN" sz="1400" b="1" dirty="0"/>
              <a:t>Employee → Department:</a:t>
            </a:r>
            <a:r>
              <a:rPr lang="en-IN" sz="1400" dirty="0"/>
              <a:t> Employee belongs to a department. </a:t>
            </a:r>
          </a:p>
          <a:p>
            <a:pPr lvl="0"/>
            <a:r>
              <a:rPr lang="en-IN" sz="1400" b="1" dirty="0"/>
              <a:t>Attendance → Report:</a:t>
            </a:r>
            <a:r>
              <a:rPr lang="en-IN" sz="1400" dirty="0"/>
              <a:t> Attendance records are used to generate monthly attendance reports.</a:t>
            </a:r>
          </a:p>
        </p:txBody>
      </p:sp>
      <p:sp>
        <p:nvSpPr>
          <p:cNvPr id="21" name="Text 19"/>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
        <p:nvSpPr>
          <p:cNvPr id="25" name="Text 7">
            <a:extLst>
              <a:ext uri="{FF2B5EF4-FFF2-40B4-BE49-F238E27FC236}">
                <a16:creationId xmlns:a16="http://schemas.microsoft.com/office/drawing/2014/main" id="{AD8589BA-1CB9-5F37-9879-9E9AE7008A5E}"/>
              </a:ext>
            </a:extLst>
          </p:cNvPr>
          <p:cNvSpPr/>
          <p:nvPr/>
        </p:nvSpPr>
        <p:spPr>
          <a:xfrm>
            <a:off x="9235440" y="1740408"/>
            <a:ext cx="2286000" cy="320040"/>
          </a:xfrm>
          <a:prstGeom prst="rect">
            <a:avLst/>
          </a:prstGeom>
          <a:noFill/>
        </p:spPr>
        <p:txBody>
          <a:bodyPr wrap="square" lIns="0" tIns="0" rIns="0" bIns="0" rtlCol="0" anchor="ctr"/>
          <a:lstStyle/>
          <a:p>
            <a:pPr algn="ct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Attendance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09</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APPLICATION WORKFLOW</a:t>
            </a:r>
            <a:endParaRPr lang="en-US" sz="1300" dirty="0"/>
          </a:p>
        </p:txBody>
      </p:sp>
      <p:sp>
        <p:nvSpPr>
          <p:cNvPr id="5" name="Shape 3"/>
          <p:cNvSpPr/>
          <p:nvPr/>
        </p:nvSpPr>
        <p:spPr>
          <a:xfrm>
            <a:off x="854964" y="2217420"/>
            <a:ext cx="1828800" cy="914400"/>
          </a:xfrm>
          <a:prstGeom prst="roundRect">
            <a:avLst>
              <a:gd name="adj" fmla="val 50000"/>
            </a:avLst>
          </a:prstGeom>
          <a:solidFill>
            <a:srgbClr val="1E2761"/>
          </a:solidFill>
        </p:spPr>
      </p:sp>
      <p:sp>
        <p:nvSpPr>
          <p:cNvPr id="6" name="Text 4"/>
          <p:cNvSpPr/>
          <p:nvPr/>
        </p:nvSpPr>
        <p:spPr>
          <a:xfrm>
            <a:off x="854964" y="2217420"/>
            <a:ext cx="1828800" cy="9144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Start</a:t>
            </a:r>
            <a:endParaRPr lang="en-US" sz="1250" dirty="0"/>
          </a:p>
        </p:txBody>
      </p:sp>
      <p:sp>
        <p:nvSpPr>
          <p:cNvPr id="7" name="Shape 5"/>
          <p:cNvSpPr/>
          <p:nvPr/>
        </p:nvSpPr>
        <p:spPr>
          <a:xfrm>
            <a:off x="2711196" y="2592324"/>
            <a:ext cx="265176" cy="164592"/>
          </a:xfrm>
          <a:prstGeom prst="rightArrow">
            <a:avLst/>
          </a:prstGeom>
          <a:solidFill>
            <a:srgbClr val="E8A33D"/>
          </a:solidFill>
        </p:spPr>
      </p:sp>
      <p:sp>
        <p:nvSpPr>
          <p:cNvPr id="8" name="Shape 6"/>
          <p:cNvSpPr/>
          <p:nvPr/>
        </p:nvSpPr>
        <p:spPr>
          <a:xfrm>
            <a:off x="3003804" y="2217420"/>
            <a:ext cx="1828800" cy="914400"/>
          </a:xfrm>
          <a:prstGeom prst="roundRect">
            <a:avLst>
              <a:gd name="adj" fmla="val 8000"/>
            </a:avLst>
          </a:prstGeom>
          <a:solidFill>
            <a:srgbClr val="EEF3FD"/>
          </a:solidFill>
          <a:ln w="19050">
            <a:solidFill>
              <a:srgbClr val="1E2761"/>
            </a:solidFill>
            <a:prstDash val="solid"/>
          </a:ln>
        </p:spPr>
      </p:sp>
      <p:sp>
        <p:nvSpPr>
          <p:cNvPr id="9" name="Text 7"/>
          <p:cNvSpPr/>
          <p:nvPr/>
        </p:nvSpPr>
        <p:spPr>
          <a:xfrm>
            <a:off x="3003804" y="2217420"/>
            <a:ext cx="1828800" cy="914400"/>
          </a:xfrm>
          <a:prstGeom prst="rect">
            <a:avLst/>
          </a:prstGeom>
          <a:noFill/>
        </p:spPr>
        <p:txBody>
          <a:bodyPr wrap="square" lIns="0" tIns="0" rIns="0" bIns="0" rtlCol="0" anchor="ctr"/>
          <a:lstStyle/>
          <a:p>
            <a:pPr algn="ctr"/>
            <a:r>
              <a:rPr lang="en-IN" sz="1400" dirty="0"/>
              <a:t>Login</a:t>
            </a:r>
            <a:endParaRPr lang="en-US" sz="1250" dirty="0"/>
          </a:p>
        </p:txBody>
      </p:sp>
      <p:sp>
        <p:nvSpPr>
          <p:cNvPr id="10" name="Shape 8"/>
          <p:cNvSpPr/>
          <p:nvPr/>
        </p:nvSpPr>
        <p:spPr>
          <a:xfrm>
            <a:off x="4860036" y="2592324"/>
            <a:ext cx="265176" cy="164592"/>
          </a:xfrm>
          <a:prstGeom prst="rightArrow">
            <a:avLst/>
          </a:prstGeom>
          <a:solidFill>
            <a:srgbClr val="E8A33D"/>
          </a:solidFill>
        </p:spPr>
      </p:sp>
      <p:sp>
        <p:nvSpPr>
          <p:cNvPr id="11" name="Shape 9"/>
          <p:cNvSpPr/>
          <p:nvPr/>
        </p:nvSpPr>
        <p:spPr>
          <a:xfrm>
            <a:off x="5152644" y="2217420"/>
            <a:ext cx="1828800" cy="914400"/>
          </a:xfrm>
          <a:prstGeom prst="roundRect">
            <a:avLst>
              <a:gd name="adj" fmla="val 8000"/>
            </a:avLst>
          </a:prstGeom>
          <a:solidFill>
            <a:srgbClr val="EEF3FD"/>
          </a:solidFill>
          <a:ln w="19050">
            <a:solidFill>
              <a:srgbClr val="1E2761"/>
            </a:solidFill>
            <a:prstDash val="solid"/>
          </a:ln>
        </p:spPr>
      </p:sp>
      <p:sp>
        <p:nvSpPr>
          <p:cNvPr id="12" name="Text 10"/>
          <p:cNvSpPr/>
          <p:nvPr/>
        </p:nvSpPr>
        <p:spPr>
          <a:xfrm>
            <a:off x="5152644" y="2217420"/>
            <a:ext cx="1828800" cy="914400"/>
          </a:xfrm>
          <a:prstGeom prst="rect">
            <a:avLst/>
          </a:prstGeom>
          <a:noFill/>
        </p:spPr>
        <p:txBody>
          <a:bodyPr wrap="square" lIns="0" tIns="0" rIns="0" bIns="0" rtlCol="0" anchor="ctr"/>
          <a:lstStyle/>
          <a:p>
            <a:pPr algn="ctr"/>
            <a:r>
              <a:rPr lang="en-IN" sz="1400" dirty="0"/>
              <a:t>Employee</a:t>
            </a:r>
            <a:endParaRPr lang="en-US" sz="1250" dirty="0"/>
          </a:p>
        </p:txBody>
      </p:sp>
      <p:sp>
        <p:nvSpPr>
          <p:cNvPr id="13" name="Shape 11"/>
          <p:cNvSpPr/>
          <p:nvPr/>
        </p:nvSpPr>
        <p:spPr>
          <a:xfrm>
            <a:off x="7008876" y="2592324"/>
            <a:ext cx="265176" cy="164592"/>
          </a:xfrm>
          <a:prstGeom prst="rightArrow">
            <a:avLst/>
          </a:prstGeom>
          <a:solidFill>
            <a:srgbClr val="E8A33D"/>
          </a:solidFill>
        </p:spPr>
      </p:sp>
      <p:sp>
        <p:nvSpPr>
          <p:cNvPr id="14" name="Shape 12"/>
          <p:cNvSpPr/>
          <p:nvPr/>
        </p:nvSpPr>
        <p:spPr>
          <a:xfrm>
            <a:off x="7301484" y="2217420"/>
            <a:ext cx="1828800" cy="914400"/>
          </a:xfrm>
          <a:prstGeom prst="roundRect">
            <a:avLst>
              <a:gd name="adj" fmla="val 8000"/>
            </a:avLst>
          </a:prstGeom>
          <a:solidFill>
            <a:srgbClr val="EEF3FD"/>
          </a:solidFill>
          <a:ln w="19050">
            <a:solidFill>
              <a:srgbClr val="1E2761"/>
            </a:solidFill>
            <a:prstDash val="solid"/>
          </a:ln>
        </p:spPr>
      </p:sp>
      <p:sp>
        <p:nvSpPr>
          <p:cNvPr id="15" name="Text 13"/>
          <p:cNvSpPr/>
          <p:nvPr/>
        </p:nvSpPr>
        <p:spPr>
          <a:xfrm>
            <a:off x="7301484" y="2217420"/>
            <a:ext cx="1828800" cy="914400"/>
          </a:xfrm>
          <a:prstGeom prst="rect">
            <a:avLst/>
          </a:prstGeom>
          <a:noFill/>
        </p:spPr>
        <p:txBody>
          <a:bodyPr wrap="square" lIns="0" tIns="0" rIns="0" bIns="0" rtlCol="0" anchor="ctr"/>
          <a:lstStyle/>
          <a:p>
            <a:pPr algn="ctr"/>
            <a:r>
              <a:rPr lang="en-IN" sz="1400" dirty="0"/>
              <a:t>Check-In / Check-Out</a:t>
            </a:r>
            <a:endParaRPr lang="en-US" sz="1250" dirty="0"/>
          </a:p>
        </p:txBody>
      </p:sp>
      <p:sp>
        <p:nvSpPr>
          <p:cNvPr id="16" name="Shape 14"/>
          <p:cNvSpPr/>
          <p:nvPr/>
        </p:nvSpPr>
        <p:spPr>
          <a:xfrm>
            <a:off x="9157716" y="2592324"/>
            <a:ext cx="265176" cy="164592"/>
          </a:xfrm>
          <a:prstGeom prst="rightArrow">
            <a:avLst/>
          </a:prstGeom>
          <a:solidFill>
            <a:srgbClr val="E8A33D"/>
          </a:solidFill>
        </p:spPr>
      </p:sp>
      <p:sp>
        <p:nvSpPr>
          <p:cNvPr id="17" name="Shape 15"/>
          <p:cNvSpPr/>
          <p:nvPr/>
        </p:nvSpPr>
        <p:spPr>
          <a:xfrm>
            <a:off x="9450324" y="2217420"/>
            <a:ext cx="1828800" cy="914400"/>
          </a:xfrm>
          <a:prstGeom prst="roundRect">
            <a:avLst>
              <a:gd name="adj" fmla="val 50000"/>
            </a:avLst>
          </a:prstGeom>
          <a:solidFill>
            <a:srgbClr val="1E2761"/>
          </a:solidFill>
        </p:spPr>
      </p:sp>
      <p:sp>
        <p:nvSpPr>
          <p:cNvPr id="18" name="Text 16"/>
          <p:cNvSpPr/>
          <p:nvPr/>
        </p:nvSpPr>
        <p:spPr>
          <a:xfrm>
            <a:off x="9450324" y="2217420"/>
            <a:ext cx="1828800" cy="9144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End</a:t>
            </a:r>
            <a:endParaRPr lang="en-US" sz="1250" dirty="0"/>
          </a:p>
        </p:txBody>
      </p:sp>
      <p:sp>
        <p:nvSpPr>
          <p:cNvPr id="19" name="Text 17"/>
          <p:cNvSpPr/>
          <p:nvPr/>
        </p:nvSpPr>
        <p:spPr>
          <a:xfrm>
            <a:off x="548640" y="4389120"/>
            <a:ext cx="11091672" cy="914400"/>
          </a:xfrm>
          <a:prstGeom prst="rect">
            <a:avLst/>
          </a:prstGeom>
          <a:noFill/>
        </p:spPr>
        <p:txBody>
          <a:bodyPr wrap="square" lIns="0" tIns="0" rIns="0" bIns="0" rtlCol="0" anchor="ctr"/>
          <a:lstStyle/>
          <a:p>
            <a:pPr algn="ctr"/>
            <a:r>
              <a:rPr lang="en-IN" sz="2000" dirty="0"/>
              <a:t>Employee logs in, accesses the attendance module, selects their employee profile, records check-in and check-out times, views attendance information and monthly reports, and completes the attendance workflow.</a:t>
            </a:r>
            <a:endParaRPr lang="en-US" sz="2000" dirty="0"/>
          </a:p>
        </p:txBody>
      </p:sp>
      <p:sp>
        <p:nvSpPr>
          <p:cNvPr id="20" name="Text 18"/>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KEY FUNCTIONALITY</a:t>
            </a:r>
            <a:endParaRPr lang="en-US" sz="1300" dirty="0"/>
          </a:p>
        </p:txBody>
      </p:sp>
      <p:sp>
        <p:nvSpPr>
          <p:cNvPr id="5" name="Shape 3"/>
          <p:cNvSpPr/>
          <p:nvPr/>
        </p:nvSpPr>
        <p:spPr>
          <a:xfrm>
            <a:off x="9418320" y="502920"/>
            <a:ext cx="2221992" cy="365760"/>
          </a:xfrm>
          <a:prstGeom prst="roundRect">
            <a:avLst>
              <a:gd name="adj" fmla="val 20000"/>
            </a:avLst>
          </a:prstGeom>
          <a:solidFill>
            <a:srgbClr val="EEF3FD"/>
          </a:solidFill>
          <a:ln w="12700">
            <a:solidFill>
              <a:srgbClr val="CADCFC"/>
            </a:solidFill>
            <a:prstDash val="solid"/>
          </a:ln>
        </p:spPr>
      </p:sp>
      <p:sp>
        <p:nvSpPr>
          <p:cNvPr id="6" name="Text 4"/>
          <p:cNvSpPr/>
          <p:nvPr/>
        </p:nvSpPr>
        <p:spPr>
          <a:xfrm>
            <a:off x="9418320" y="502920"/>
            <a:ext cx="2221992" cy="365760"/>
          </a:xfrm>
          <a:prstGeom prst="rect">
            <a:avLst/>
          </a:prstGeom>
          <a:noFill/>
        </p:spPr>
        <p:txBody>
          <a:bodyPr wrap="square" lIns="0" tIns="0" rIns="0" bIns="0" rtlCol="0" anchor="ctr"/>
          <a:lstStyle/>
          <a:p>
            <a:pPr marL="0" indent="0" algn="ctr">
              <a:buNone/>
            </a:pPr>
            <a:r>
              <a:rPr lang="en-US" sz="1000" i="1" dirty="0">
                <a:solidFill>
                  <a:srgbClr val="5B5F7A"/>
                </a:solidFill>
                <a:latin typeface="Calibri" panose="020F0502020204030204" pitchFamily="34" charset="0"/>
                <a:ea typeface="Calibri" panose="020F0502020204030204" pitchFamily="34" charset="-122"/>
                <a:cs typeface="Calibri" panose="020F0502020204030204" pitchFamily="34" charset="-120"/>
              </a:rPr>
              <a:t>Duplicate per feature</a:t>
            </a:r>
            <a:endParaRPr lang="en-US" sz="1000" dirty="0"/>
          </a:p>
        </p:txBody>
      </p:sp>
      <p:sp>
        <p:nvSpPr>
          <p:cNvPr id="7" name="Text 5"/>
          <p:cNvSpPr/>
          <p:nvPr/>
        </p:nvSpPr>
        <p:spPr>
          <a:xfrm>
            <a:off x="548640" y="1463040"/>
            <a:ext cx="7315200" cy="457200"/>
          </a:xfrm>
          <a:prstGeom prst="rect">
            <a:avLst/>
          </a:prstGeom>
          <a:noFill/>
        </p:spPr>
        <p:txBody>
          <a:bodyPr wrap="square" lIns="0" tIns="0" rIns="0" bIns="0" rtlCol="0" anchor="ctr"/>
          <a:lstStyle/>
          <a:p>
            <a:r>
              <a:rPr lang="en-IN" b="1" dirty="0"/>
              <a:t>Employee Attendance Management</a:t>
            </a:r>
          </a:p>
        </p:txBody>
      </p:sp>
      <p:sp>
        <p:nvSpPr>
          <p:cNvPr id="8" name="Text 6"/>
          <p:cNvSpPr/>
          <p:nvPr/>
        </p:nvSpPr>
        <p:spPr>
          <a:xfrm>
            <a:off x="548640" y="2057400"/>
            <a:ext cx="521208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What the user can do</a:t>
            </a:r>
            <a:endParaRPr lang="en-US" sz="1300" dirty="0"/>
          </a:p>
        </p:txBody>
      </p:sp>
      <p:sp>
        <p:nvSpPr>
          <p:cNvPr id="9" name="Shape 7"/>
          <p:cNvSpPr/>
          <p:nvPr/>
        </p:nvSpPr>
        <p:spPr>
          <a:xfrm>
            <a:off x="594360" y="2542032"/>
            <a:ext cx="100584" cy="100584"/>
          </a:xfrm>
          <a:prstGeom prst="ellipse">
            <a:avLst/>
          </a:prstGeom>
          <a:solidFill>
            <a:srgbClr val="E8A33D"/>
          </a:solidFill>
        </p:spPr>
      </p:sp>
      <p:sp>
        <p:nvSpPr>
          <p:cNvPr id="10" name="Text 8"/>
          <p:cNvSpPr/>
          <p:nvPr/>
        </p:nvSpPr>
        <p:spPr>
          <a:xfrm>
            <a:off x="850392" y="2414016"/>
            <a:ext cx="4864608" cy="548640"/>
          </a:xfrm>
          <a:prstGeom prst="rect">
            <a:avLst/>
          </a:prstGeom>
          <a:noFill/>
        </p:spPr>
        <p:txBody>
          <a:bodyPr wrap="square" lIns="0" tIns="0" rIns="0" bIns="0" rtlCol="0" anchor="t"/>
          <a:lstStyle/>
          <a:p>
            <a:r>
              <a:rPr lang="en-IN" sz="1400" dirty="0"/>
              <a:t>Log in and access the attendance system</a:t>
            </a:r>
            <a:endParaRPr lang="en-US" sz="1250" dirty="0"/>
          </a:p>
        </p:txBody>
      </p:sp>
      <p:sp>
        <p:nvSpPr>
          <p:cNvPr id="11" name="Shape 9"/>
          <p:cNvSpPr/>
          <p:nvPr/>
        </p:nvSpPr>
        <p:spPr>
          <a:xfrm>
            <a:off x="594360" y="3026664"/>
            <a:ext cx="100584" cy="100584"/>
          </a:xfrm>
          <a:prstGeom prst="ellipse">
            <a:avLst/>
          </a:prstGeom>
          <a:solidFill>
            <a:srgbClr val="E8A33D"/>
          </a:solidFill>
        </p:spPr>
      </p:sp>
      <p:sp>
        <p:nvSpPr>
          <p:cNvPr id="12" name="Text 10"/>
          <p:cNvSpPr/>
          <p:nvPr/>
        </p:nvSpPr>
        <p:spPr>
          <a:xfrm>
            <a:off x="850392" y="2962656"/>
            <a:ext cx="4864608" cy="548640"/>
          </a:xfrm>
          <a:prstGeom prst="rect">
            <a:avLst/>
          </a:prstGeom>
          <a:noFill/>
        </p:spPr>
        <p:txBody>
          <a:bodyPr wrap="square" lIns="0" tIns="0" rIns="0" bIns="0" rtlCol="0" anchor="t"/>
          <a:lstStyle/>
          <a:p>
            <a:r>
              <a:rPr lang="en-IN" sz="1400" dirty="0"/>
              <a:t>Select employee and view attendance information</a:t>
            </a:r>
            <a:endParaRPr lang="en-US" sz="1250" dirty="0"/>
          </a:p>
        </p:txBody>
      </p:sp>
      <p:sp>
        <p:nvSpPr>
          <p:cNvPr id="13" name="Shape 11"/>
          <p:cNvSpPr/>
          <p:nvPr/>
        </p:nvSpPr>
        <p:spPr>
          <a:xfrm>
            <a:off x="594360" y="3531655"/>
            <a:ext cx="100584" cy="100584"/>
          </a:xfrm>
          <a:prstGeom prst="ellipse">
            <a:avLst/>
          </a:prstGeom>
          <a:solidFill>
            <a:srgbClr val="E8A33D"/>
          </a:solidFill>
        </p:spPr>
      </p:sp>
      <p:sp>
        <p:nvSpPr>
          <p:cNvPr id="14" name="Text 12"/>
          <p:cNvSpPr/>
          <p:nvPr/>
        </p:nvSpPr>
        <p:spPr>
          <a:xfrm>
            <a:off x="838278" y="3492343"/>
            <a:ext cx="4864608" cy="696273"/>
          </a:xfrm>
          <a:prstGeom prst="rect">
            <a:avLst/>
          </a:prstGeom>
          <a:noFill/>
        </p:spPr>
        <p:txBody>
          <a:bodyPr wrap="square" lIns="0" tIns="0" rIns="0" bIns="0" rtlCol="0" anchor="t"/>
          <a:lstStyle/>
          <a:p>
            <a:pPr lvl="0"/>
            <a:r>
              <a:rPr lang="en-IN" sz="1400" dirty="0"/>
              <a:t>Record employee check-in and check-out </a:t>
            </a:r>
          </a:p>
        </p:txBody>
      </p:sp>
      <p:sp>
        <p:nvSpPr>
          <p:cNvPr id="15" name="Text 13"/>
          <p:cNvSpPr/>
          <p:nvPr/>
        </p:nvSpPr>
        <p:spPr>
          <a:xfrm>
            <a:off x="548640" y="4297680"/>
            <a:ext cx="521208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16" name="Text 14"/>
          <p:cNvSpPr/>
          <p:nvPr/>
        </p:nvSpPr>
        <p:spPr>
          <a:xfrm>
            <a:off x="548640" y="4663440"/>
            <a:ext cx="5212080" cy="1097280"/>
          </a:xfrm>
          <a:prstGeom prst="rect">
            <a:avLst/>
          </a:prstGeom>
          <a:noFill/>
        </p:spPr>
        <p:txBody>
          <a:bodyPr wrap="square" lIns="0" tIns="0" rIns="0" bIns="0" rtlCol="0" anchor="ctr"/>
          <a:lstStyle/>
          <a:p>
            <a:r>
              <a:rPr lang="en-IN" sz="1400" dirty="0"/>
              <a:t>The employee accesses the attendance module, records the check-in and check-out time, and the system stores the attendance details through the backend. The recorded data is used to calculate attendance status, working hours, and generate monthly attendance reports.</a:t>
            </a:r>
            <a:endParaRPr lang="en-US" sz="1250" dirty="0"/>
          </a:p>
        </p:txBody>
      </p:sp>
      <p:sp>
        <p:nvSpPr>
          <p:cNvPr id="17" name="Shape 15"/>
          <p:cNvSpPr/>
          <p:nvPr/>
        </p:nvSpPr>
        <p:spPr>
          <a:xfrm>
            <a:off x="6309360" y="1463040"/>
            <a:ext cx="5349240" cy="4297680"/>
          </a:xfrm>
          <a:prstGeom prst="roundRect">
            <a:avLst>
              <a:gd name="adj" fmla="val 2128"/>
            </a:avLst>
          </a:prstGeom>
          <a:solidFill>
            <a:srgbClr val="EEF3FD"/>
          </a:solidFill>
          <a:ln w="19050">
            <a:solidFill>
              <a:srgbClr val="CADCFC"/>
            </a:solidFill>
            <a:prstDash val="dash"/>
          </a:ln>
        </p:spPr>
      </p:sp>
      <p:sp>
        <p:nvSpPr>
          <p:cNvPr id="18" name="Text 16"/>
          <p:cNvSpPr/>
          <p:nvPr/>
        </p:nvSpPr>
        <p:spPr>
          <a:xfrm>
            <a:off x="6583680" y="3383280"/>
            <a:ext cx="4800600" cy="548640"/>
          </a:xfrm>
          <a:prstGeom prst="rect">
            <a:avLst/>
          </a:prstGeom>
          <a:noFill/>
        </p:spPr>
        <p:txBody>
          <a:bodyPr wrap="square" lIns="0" tIns="0" rIns="0" bIns="0" rtlCol="0" anchor="ctr"/>
          <a:lstStyle/>
          <a:p>
            <a:pPr marL="0" indent="0" algn="ctr">
              <a:buNone/>
            </a:pPr>
            <a:r>
              <a:rPr lang="en-US" sz="1300" i="1" dirty="0">
                <a:solidFill>
                  <a:srgbClr val="5B5F7A"/>
                </a:solidFill>
                <a:latin typeface="Calibri" panose="020F0502020204030204" pitchFamily="34" charset="0"/>
                <a:ea typeface="Calibri" panose="020F0502020204030204" pitchFamily="34" charset="-122"/>
                <a:cs typeface="Calibri" panose="020F0502020204030204" pitchFamily="34" charset="-120"/>
              </a:rPr>
              <a:t>[Insert screenshot of this functionality]</a:t>
            </a:r>
            <a:endParaRPr lang="en-US" sz="1300" dirty="0"/>
          </a:p>
        </p:txBody>
      </p:sp>
      <p:sp>
        <p:nvSpPr>
          <p:cNvPr id="19" name="Text 17"/>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
        <p:nvSpPr>
          <p:cNvPr id="21" name="Shape 11">
            <a:extLst>
              <a:ext uri="{FF2B5EF4-FFF2-40B4-BE49-F238E27FC236}">
                <a16:creationId xmlns:a16="http://schemas.microsoft.com/office/drawing/2014/main" id="{771BF46A-3C06-EC23-1EBB-487158EA3B05}"/>
              </a:ext>
            </a:extLst>
          </p:cNvPr>
          <p:cNvSpPr/>
          <p:nvPr/>
        </p:nvSpPr>
        <p:spPr>
          <a:xfrm>
            <a:off x="594360" y="4017381"/>
            <a:ext cx="100584" cy="100584"/>
          </a:xfrm>
          <a:prstGeom prst="ellipse">
            <a:avLst/>
          </a:prstGeom>
          <a:solidFill>
            <a:srgbClr val="E8A33D"/>
          </a:solidFill>
        </p:spPr>
      </p:sp>
      <p:sp>
        <p:nvSpPr>
          <p:cNvPr id="22" name="TextBox 21">
            <a:extLst>
              <a:ext uri="{FF2B5EF4-FFF2-40B4-BE49-F238E27FC236}">
                <a16:creationId xmlns:a16="http://schemas.microsoft.com/office/drawing/2014/main" id="{DEE62FE3-A23C-14EB-254D-2944B15C7AA5}"/>
              </a:ext>
            </a:extLst>
          </p:cNvPr>
          <p:cNvSpPr txBox="1"/>
          <p:nvPr/>
        </p:nvSpPr>
        <p:spPr>
          <a:xfrm>
            <a:off x="777240" y="3929270"/>
            <a:ext cx="2635786" cy="307777"/>
          </a:xfrm>
          <a:prstGeom prst="rect">
            <a:avLst/>
          </a:prstGeom>
          <a:noFill/>
        </p:spPr>
        <p:txBody>
          <a:bodyPr wrap="none" rtlCol="0">
            <a:spAutoFit/>
          </a:bodyPr>
          <a:lstStyle/>
          <a:p>
            <a:r>
              <a:rPr lang="en-IN" sz="1400" dirty="0"/>
              <a:t>View monthly attendance reports</a:t>
            </a:r>
          </a:p>
        </p:txBody>
      </p:sp>
      <p:pic>
        <p:nvPicPr>
          <p:cNvPr id="25" name="Picture 24">
            <a:extLst>
              <a:ext uri="{FF2B5EF4-FFF2-40B4-BE49-F238E27FC236}">
                <a16:creationId xmlns:a16="http://schemas.microsoft.com/office/drawing/2014/main" id="{F8129888-DAC3-22F9-1507-8515652FD52E}"/>
              </a:ext>
            </a:extLst>
          </p:cNvPr>
          <p:cNvPicPr>
            <a:picLocks noChangeAspect="1"/>
          </p:cNvPicPr>
          <p:nvPr/>
        </p:nvPicPr>
        <p:blipFill>
          <a:blip r:embed="rId3"/>
          <a:stretch>
            <a:fillRect/>
          </a:stretch>
        </p:blipFill>
        <p:spPr>
          <a:xfrm>
            <a:off x="6309360" y="1463040"/>
            <a:ext cx="5330952" cy="4297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CHALLENGES &amp; SOLUTIONS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994958842"/>
              </p:ext>
            </p:extLst>
          </p:nvPr>
        </p:nvGraphicFramePr>
        <p:xfrm>
          <a:off x="548640" y="1463040"/>
          <a:ext cx="11091672" cy="3860736"/>
        </p:xfrm>
        <a:graphic>
          <a:graphicData uri="http://schemas.openxmlformats.org/drawingml/2006/table">
            <a:tbl>
              <a:tblPr/>
              <a:tblGrid>
                <a:gridCol w="5541264">
                  <a:extLst>
                    <a:ext uri="{9D8B030D-6E8A-4147-A177-3AD203B41FA5}">
                      <a16:colId xmlns:a16="http://schemas.microsoft.com/office/drawing/2014/main" val="20000"/>
                    </a:ext>
                  </a:extLst>
                </a:gridCol>
                <a:gridCol w="5550408">
                  <a:extLst>
                    <a:ext uri="{9D8B030D-6E8A-4147-A177-3AD203B41FA5}">
                      <a16:colId xmlns:a16="http://schemas.microsoft.com/office/drawing/2014/main" val="20001"/>
                    </a:ext>
                  </a:extLst>
                </a:gridCol>
              </a:tblGrid>
              <a:tr h="96012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Challenge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Solution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960120">
                <a:tc>
                  <a:txBody>
                    <a:bodyPr/>
                    <a:lstStyle/>
                    <a:p>
                      <a:pPr marL="0" indent="0">
                        <a:buNone/>
                      </a:pPr>
                      <a:r>
                        <a:rPr lang="en-IN" sz="1400" dirty="0"/>
                        <a:t>Secure access for different user roles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IN" sz="1400" dirty="0"/>
                        <a:t>Implemented  role-based access control for Administrators and Employees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980376">
                <a:tc>
                  <a:txBody>
                    <a:bodyPr/>
                    <a:lstStyle/>
                    <a:p>
                      <a:pPr marL="0" indent="0">
                        <a:buNone/>
                      </a:pPr>
                      <a:r>
                        <a:rPr lang="en-IN" sz="1400" dirty="0"/>
                        <a:t>Efficient attendance recording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buNone/>
                      </a:pPr>
                      <a:r>
                        <a:rPr lang="en-IN" sz="1400" b="0" dirty="0"/>
                        <a:t>Implemented check-in and check-out processing with attendance timestamps</a:t>
                      </a: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960120">
                <a:tc>
                  <a:txBody>
                    <a:bodyPr/>
                    <a:lstStyle/>
                    <a:p>
                      <a:pPr marL="0" indent="0">
                        <a:buNone/>
                      </a:pPr>
                      <a:r>
                        <a:rPr lang="en-IN" sz="1400" dirty="0"/>
                        <a:t>Handling attendance discrepancies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buNone/>
                      </a:pPr>
                      <a:r>
                        <a:rPr lang="en-IN" sz="1400" b="0" i="0" dirty="0">
                          <a:solidFill>
                            <a:schemeClr val="tx1"/>
                          </a:solidFill>
                          <a:effectLst/>
                          <a:latin typeface="+mn-lt"/>
                        </a:rPr>
                        <a:t>Implemented an attendance correction workflow for managing attendance record changes</a:t>
                      </a:r>
                      <a:endParaRPr lang="en-IN" sz="1400" b="0"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FUTURE ENHANCEMENTS</a:t>
            </a:r>
            <a:endParaRPr lang="en-US" sz="1300" dirty="0"/>
          </a:p>
        </p:txBody>
      </p:sp>
      <p:sp>
        <p:nvSpPr>
          <p:cNvPr id="5" name="Shape 3"/>
          <p:cNvSpPr/>
          <p:nvPr/>
        </p:nvSpPr>
        <p:spPr>
          <a:xfrm>
            <a:off x="349758" y="1181901"/>
            <a:ext cx="11091672" cy="4663440"/>
          </a:xfrm>
          <a:prstGeom prst="roundRect">
            <a:avLst>
              <a:gd name="adj" fmla="val 1961"/>
            </a:avLst>
          </a:prstGeom>
          <a:solidFill>
            <a:srgbClr val="EEF3FD"/>
          </a:solidFill>
        </p:spPr>
      </p:sp>
      <p:sp>
        <p:nvSpPr>
          <p:cNvPr id="6" name="Text 4"/>
          <p:cNvSpPr/>
          <p:nvPr/>
        </p:nvSpPr>
        <p:spPr>
          <a:xfrm>
            <a:off x="868680" y="1737360"/>
            <a:ext cx="1042416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Possible improvements</a:t>
            </a:r>
            <a:endParaRPr lang="en-US" sz="1500" dirty="0"/>
          </a:p>
        </p:txBody>
      </p:sp>
      <p:sp>
        <p:nvSpPr>
          <p:cNvPr id="7" name="Shape 5"/>
          <p:cNvSpPr/>
          <p:nvPr/>
        </p:nvSpPr>
        <p:spPr>
          <a:xfrm>
            <a:off x="939927" y="2667723"/>
            <a:ext cx="100584" cy="100584"/>
          </a:xfrm>
          <a:prstGeom prst="ellipse">
            <a:avLst/>
          </a:prstGeom>
          <a:solidFill>
            <a:srgbClr val="E8A33D"/>
          </a:solidFill>
        </p:spPr>
      </p:sp>
      <p:sp>
        <p:nvSpPr>
          <p:cNvPr id="8" name="Text 6"/>
          <p:cNvSpPr/>
          <p:nvPr/>
        </p:nvSpPr>
        <p:spPr>
          <a:xfrm>
            <a:off x="1170432" y="2621397"/>
            <a:ext cx="10076688" cy="365760"/>
          </a:xfrm>
          <a:prstGeom prst="rect">
            <a:avLst/>
          </a:prstGeom>
          <a:noFill/>
        </p:spPr>
        <p:txBody>
          <a:bodyPr wrap="square" lIns="0" tIns="0" rIns="0" bIns="0" rtlCol="0" anchor="t"/>
          <a:lstStyle/>
          <a:p>
            <a:r>
              <a:rPr lang="en-IN" sz="1400" b="1" dirty="0"/>
              <a:t>AI-Based Attendance Analytics</a:t>
            </a:r>
            <a:r>
              <a:rPr lang="en-IN" sz="1400" dirty="0"/>
              <a:t> — intelligent attendance trends and performance insights</a:t>
            </a:r>
            <a:endParaRPr lang="en-US" sz="1350" dirty="0"/>
          </a:p>
        </p:txBody>
      </p:sp>
      <p:sp>
        <p:nvSpPr>
          <p:cNvPr id="9" name="Shape 7"/>
          <p:cNvSpPr/>
          <p:nvPr/>
        </p:nvSpPr>
        <p:spPr>
          <a:xfrm>
            <a:off x="914400" y="3044952"/>
            <a:ext cx="100584" cy="100584"/>
          </a:xfrm>
          <a:prstGeom prst="ellipse">
            <a:avLst/>
          </a:prstGeom>
          <a:solidFill>
            <a:srgbClr val="E8A33D"/>
          </a:solidFill>
        </p:spPr>
      </p:sp>
      <p:sp>
        <p:nvSpPr>
          <p:cNvPr id="10" name="Text 8"/>
          <p:cNvSpPr/>
          <p:nvPr/>
        </p:nvSpPr>
        <p:spPr>
          <a:xfrm>
            <a:off x="1170432" y="3002358"/>
            <a:ext cx="10076688" cy="442038"/>
          </a:xfrm>
          <a:prstGeom prst="rect">
            <a:avLst/>
          </a:prstGeom>
          <a:noFill/>
        </p:spPr>
        <p:txBody>
          <a:bodyPr wrap="square" lIns="0" tIns="0" rIns="0" bIns="0" rtlCol="0" anchor="t"/>
          <a:lstStyle/>
          <a:p>
            <a:r>
              <a:rPr lang="en-IN" sz="1400" b="1" dirty="0"/>
              <a:t>Leave Management</a:t>
            </a:r>
            <a:r>
              <a:rPr lang="en-IN" sz="1400" dirty="0"/>
              <a:t> — employee leave requests, approvals, and attendance integration</a:t>
            </a:r>
            <a:endParaRPr lang="en-US" sz="1350" dirty="0"/>
          </a:p>
        </p:txBody>
      </p:sp>
      <p:sp>
        <p:nvSpPr>
          <p:cNvPr id="11" name="Shape 9"/>
          <p:cNvSpPr/>
          <p:nvPr/>
        </p:nvSpPr>
        <p:spPr>
          <a:xfrm>
            <a:off x="914400" y="3513621"/>
            <a:ext cx="100584" cy="100584"/>
          </a:xfrm>
          <a:prstGeom prst="ellipse">
            <a:avLst/>
          </a:prstGeom>
          <a:solidFill>
            <a:srgbClr val="E8A33D"/>
          </a:solidFill>
        </p:spPr>
      </p:sp>
      <p:sp>
        <p:nvSpPr>
          <p:cNvPr id="12" name="Text 10"/>
          <p:cNvSpPr/>
          <p:nvPr/>
        </p:nvSpPr>
        <p:spPr>
          <a:xfrm>
            <a:off x="1170432" y="3436776"/>
            <a:ext cx="10076688" cy="685800"/>
          </a:xfrm>
          <a:prstGeom prst="rect">
            <a:avLst/>
          </a:prstGeom>
          <a:noFill/>
        </p:spPr>
        <p:txBody>
          <a:bodyPr wrap="square" lIns="0" tIns="0" rIns="0" bIns="0" rtlCol="0" anchor="t"/>
          <a:lstStyle/>
          <a:p>
            <a:pPr lvl="0"/>
            <a:r>
              <a:rPr lang="en-IN" sz="1400" b="1" dirty="0"/>
              <a:t>Notifications</a:t>
            </a:r>
            <a:r>
              <a:rPr lang="en-IN" sz="1400" dirty="0"/>
              <a:t> — automated attendance reminders and correction status alerts </a:t>
            </a:r>
          </a:p>
          <a:p>
            <a:pPr lvl="0"/>
            <a:endParaRPr lang="en-IN" sz="1400" dirty="0"/>
          </a:p>
          <a:p>
            <a:pPr lvl="0"/>
            <a:r>
              <a:rPr lang="en-IN" sz="1400" b="1" dirty="0"/>
              <a:t>Payroll Integration</a:t>
            </a:r>
            <a:r>
              <a:rPr lang="en-IN" sz="1400" dirty="0"/>
              <a:t> — integration of attendance and working-hour data with payroll systems</a:t>
            </a:r>
          </a:p>
        </p:txBody>
      </p:sp>
      <p:sp>
        <p:nvSpPr>
          <p:cNvPr id="13" name="Shape 11"/>
          <p:cNvSpPr/>
          <p:nvPr/>
        </p:nvSpPr>
        <p:spPr>
          <a:xfrm>
            <a:off x="939927" y="4340127"/>
            <a:ext cx="100584" cy="100584"/>
          </a:xfrm>
          <a:prstGeom prst="ellipse">
            <a:avLst/>
          </a:prstGeom>
          <a:solidFill>
            <a:srgbClr val="E8A33D"/>
          </a:solidFill>
        </p:spPr>
        <p:txBody>
          <a:bodyPr/>
          <a:lstStyle/>
          <a:p>
            <a:endParaRPr lang="en-IN" dirty="0"/>
          </a:p>
        </p:txBody>
      </p:sp>
      <p:sp>
        <p:nvSpPr>
          <p:cNvPr id="14" name="Text 12"/>
          <p:cNvSpPr/>
          <p:nvPr/>
        </p:nvSpPr>
        <p:spPr>
          <a:xfrm>
            <a:off x="1170432" y="4293264"/>
            <a:ext cx="10076688" cy="685800"/>
          </a:xfrm>
          <a:prstGeom prst="rect">
            <a:avLst/>
          </a:prstGeom>
          <a:noFill/>
        </p:spPr>
        <p:txBody>
          <a:bodyPr wrap="square" lIns="0" tIns="0" rIns="0" bIns="0" rtlCol="0" anchor="t"/>
          <a:lstStyle/>
          <a:p>
            <a:pPr lvl="0"/>
            <a:r>
              <a:rPr lang="en-IN" sz="1400" b="1" dirty="0"/>
              <a:t>Mobile Application</a:t>
            </a:r>
            <a:r>
              <a:rPr lang="en-IN" sz="1400" dirty="0"/>
              <a:t> — Android and iOS support for convenient attendance management </a:t>
            </a:r>
          </a:p>
        </p:txBody>
      </p:sp>
      <p:sp>
        <p:nvSpPr>
          <p:cNvPr id="15" name="Text 13"/>
          <p:cNvSpPr/>
          <p:nvPr/>
        </p:nvSpPr>
        <p:spPr>
          <a:xfrm>
            <a:off x="548640" y="6510528"/>
            <a:ext cx="5486400" cy="274320"/>
          </a:xfrm>
          <a:prstGeom prst="rect">
            <a:avLst/>
          </a:prstGeom>
          <a:noFill/>
        </p:spPr>
        <p:txBody>
          <a:bodyPr wrap="square" lIns="0" tIns="0" rIns="0" bIns="0" rtlCol="0" anchor="ctr"/>
          <a:lstStyle/>
          <a:p>
            <a:pPr marL="0" indent="0">
              <a:buNone/>
            </a:pP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err="1">
                <a:solidFill>
                  <a:srgbClr val="5B5F7A"/>
                </a:solidFill>
                <a:latin typeface="Calibri" panose="020F0502020204030204" pitchFamily="34" charset="0"/>
                <a:ea typeface="Calibri" panose="020F0502020204030204" pitchFamily="34" charset="-122"/>
                <a:cs typeface="Calibri" panose="020F0502020204030204" pitchFamily="34" charset="-120"/>
              </a:rPr>
              <a:t>Sasthik</a:t>
            </a:r>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 K</a:t>
            </a:r>
            <a:endParaRPr lang="en-US" sz="900" dirty="0"/>
          </a:p>
        </p:txBody>
      </p:sp>
      <p:sp>
        <p:nvSpPr>
          <p:cNvPr id="17" name="Shape 9">
            <a:extLst>
              <a:ext uri="{FF2B5EF4-FFF2-40B4-BE49-F238E27FC236}">
                <a16:creationId xmlns:a16="http://schemas.microsoft.com/office/drawing/2014/main" id="{32C38700-99BE-CA0C-1F73-2587242F9120}"/>
              </a:ext>
            </a:extLst>
          </p:cNvPr>
          <p:cNvSpPr/>
          <p:nvPr/>
        </p:nvSpPr>
        <p:spPr>
          <a:xfrm>
            <a:off x="914400" y="3909138"/>
            <a:ext cx="100584" cy="100584"/>
          </a:xfrm>
          <a:prstGeom prst="ellipse">
            <a:avLst/>
          </a:prstGeom>
          <a:solidFill>
            <a:srgbClr val="E8A33D"/>
          </a:solidFill>
        </p:spPr>
        <p:txBody>
          <a:bodyPr/>
          <a:lstStyle/>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875520" y="-1280160"/>
            <a:ext cx="3657600" cy="3657600"/>
          </a:xfrm>
          <a:prstGeom prst="ellipse">
            <a:avLst/>
          </a:prstGeom>
          <a:solidFill>
            <a:srgbClr val="161C4D"/>
          </a:solidFill>
        </p:spPr>
      </p:sp>
      <p:sp>
        <p:nvSpPr>
          <p:cNvPr id="3" name="Shape 1"/>
          <p:cNvSpPr/>
          <p:nvPr/>
        </p:nvSpPr>
        <p:spPr>
          <a:xfrm>
            <a:off x="-1645920" y="4206240"/>
            <a:ext cx="3291840" cy="3291840"/>
          </a:xfrm>
          <a:prstGeom prst="ellipse">
            <a:avLst/>
          </a:prstGeom>
          <a:solidFill>
            <a:srgbClr val="161C4D"/>
          </a:solidFill>
        </p:spPr>
      </p:sp>
      <p:sp>
        <p:nvSpPr>
          <p:cNvPr id="4" name="Shape 2"/>
          <p:cNvSpPr/>
          <p:nvPr/>
        </p:nvSpPr>
        <p:spPr>
          <a:xfrm>
            <a:off x="548640" y="502920"/>
            <a:ext cx="457200" cy="457200"/>
          </a:xfrm>
          <a:prstGeom prst="ellipse">
            <a:avLst/>
          </a:prstGeom>
          <a:solidFill>
            <a:srgbClr val="FFFFFF"/>
          </a:solidFill>
        </p:spPr>
        <p:txBody>
          <a:bodyPr/>
          <a:lstStyle/>
          <a:p>
            <a:endParaRPr lang="en-IN" dirty="0"/>
          </a:p>
        </p:txBody>
      </p:sp>
      <p:sp>
        <p:nvSpPr>
          <p:cNvPr id="5" name="Text 3"/>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13</a:t>
            </a:r>
            <a:endParaRPr lang="en-US" sz="1600" dirty="0"/>
          </a:p>
        </p:txBody>
      </p:sp>
      <p:sp>
        <p:nvSpPr>
          <p:cNvPr id="6" name="Text 4"/>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dirty="0"/>
          </a:p>
        </p:txBody>
      </p:sp>
      <p:sp>
        <p:nvSpPr>
          <p:cNvPr id="7" name="Text 5"/>
          <p:cNvSpPr/>
          <p:nvPr/>
        </p:nvSpPr>
        <p:spPr>
          <a:xfrm>
            <a:off x="548640" y="1463040"/>
            <a:ext cx="10515600" cy="365760"/>
          </a:xfrm>
          <a:prstGeom prst="rect">
            <a:avLst/>
          </a:prstGeom>
          <a:noFill/>
        </p:spPr>
        <p:txBody>
          <a:bodyPr wrap="square" lIns="0" tIns="0" rIns="0" bIns="0" rtlCol="0" anchor="ctr"/>
          <a:lstStyle/>
          <a:p>
            <a:pPr marL="0" indent="0">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Summary</a:t>
            </a:r>
            <a:endParaRPr lang="en-US" sz="1400" dirty="0"/>
          </a:p>
        </p:txBody>
      </p:sp>
      <p:sp>
        <p:nvSpPr>
          <p:cNvPr id="8" name="Text 6"/>
          <p:cNvSpPr/>
          <p:nvPr/>
        </p:nvSpPr>
        <p:spPr>
          <a:xfrm>
            <a:off x="548640" y="1828800"/>
            <a:ext cx="10515600" cy="822960"/>
          </a:xfrm>
          <a:prstGeom prst="rect">
            <a:avLst/>
          </a:prstGeom>
          <a:noFill/>
        </p:spPr>
        <p:txBody>
          <a:bodyPr wrap="square" lIns="0" tIns="0" rIns="0" bIns="0" rtlCol="0" anchor="ctr"/>
          <a:lstStyle/>
          <a:p>
            <a:r>
              <a:rPr lang="en-IN" sz="1400" dirty="0">
                <a:solidFill>
                  <a:schemeClr val="bg1"/>
                </a:solidFill>
              </a:rPr>
              <a:t>The </a:t>
            </a:r>
            <a:r>
              <a:rPr lang="en-IN" sz="1400" b="1" dirty="0" err="1">
                <a:solidFill>
                  <a:schemeClr val="bg1"/>
                </a:solidFill>
              </a:rPr>
              <a:t>TimeFlow</a:t>
            </a:r>
            <a:r>
              <a:rPr lang="en-IN" sz="1400" b="1" dirty="0">
                <a:solidFill>
                  <a:schemeClr val="bg1"/>
                </a:solidFill>
              </a:rPr>
              <a:t> Employee Attendance Management System</a:t>
            </a:r>
            <a:r>
              <a:rPr lang="en-IN" sz="1400" dirty="0">
                <a:solidFill>
                  <a:schemeClr val="bg1"/>
                </a:solidFill>
              </a:rPr>
              <a:t> provides a secure and centralized platform for managing employees, recording attendance, handling correction requests, and generating attendance reports. Administrators can manage employee information and attendance records, while employees can perform check-in/check-out operations and access their attendance information.</a:t>
            </a:r>
            <a:endParaRPr lang="en-US" sz="1300" dirty="0">
              <a:solidFill>
                <a:schemeClr val="bg1"/>
              </a:solidFill>
            </a:endParaRPr>
          </a:p>
        </p:txBody>
      </p:sp>
      <p:sp>
        <p:nvSpPr>
          <p:cNvPr id="9" name="Text 7"/>
          <p:cNvSpPr/>
          <p:nvPr/>
        </p:nvSpPr>
        <p:spPr>
          <a:xfrm>
            <a:off x="548640" y="2743200"/>
            <a:ext cx="10515600" cy="365760"/>
          </a:xfrm>
          <a:prstGeom prst="rect">
            <a:avLst/>
          </a:prstGeom>
          <a:noFill/>
        </p:spPr>
        <p:txBody>
          <a:bodyPr wrap="square" lIns="0" tIns="0" rIns="0" bIns="0" rtlCol="0" anchor="ctr"/>
          <a:lstStyle/>
          <a:p>
            <a:pPr marL="0" indent="0">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Key achievements</a:t>
            </a:r>
            <a:endParaRPr lang="en-US" sz="1400" dirty="0"/>
          </a:p>
        </p:txBody>
      </p:sp>
      <p:sp>
        <p:nvSpPr>
          <p:cNvPr id="10" name="Shape 8"/>
          <p:cNvSpPr/>
          <p:nvPr/>
        </p:nvSpPr>
        <p:spPr>
          <a:xfrm>
            <a:off x="594360" y="3227832"/>
            <a:ext cx="100584" cy="100584"/>
          </a:xfrm>
          <a:prstGeom prst="ellipse">
            <a:avLst/>
          </a:prstGeom>
          <a:solidFill>
            <a:srgbClr val="E8A33D"/>
          </a:solidFill>
        </p:spPr>
      </p:sp>
      <p:sp>
        <p:nvSpPr>
          <p:cNvPr id="11" name="Text 9"/>
          <p:cNvSpPr/>
          <p:nvPr/>
        </p:nvSpPr>
        <p:spPr>
          <a:xfrm>
            <a:off x="850392" y="3177540"/>
            <a:ext cx="10168128" cy="502920"/>
          </a:xfrm>
          <a:prstGeom prst="rect">
            <a:avLst/>
          </a:prstGeom>
          <a:noFill/>
        </p:spPr>
        <p:txBody>
          <a:bodyPr wrap="square" lIns="0" tIns="0" rIns="0" bIns="0" rtlCol="0" anchor="t"/>
          <a:lstStyle/>
          <a:p>
            <a:r>
              <a:rPr lang="en-US" sz="1400" b="1" dirty="0">
                <a:solidFill>
                  <a:schemeClr val="bg1"/>
                </a:solidFill>
              </a:rPr>
              <a:t>Secure Access — Role-based access for Administrators and Employees</a:t>
            </a:r>
            <a:endParaRPr lang="en-US" sz="1300" dirty="0">
              <a:solidFill>
                <a:schemeClr val="bg1"/>
              </a:solidFill>
            </a:endParaRPr>
          </a:p>
        </p:txBody>
      </p:sp>
      <p:sp>
        <p:nvSpPr>
          <p:cNvPr id="12" name="Shape 10"/>
          <p:cNvSpPr/>
          <p:nvPr/>
        </p:nvSpPr>
        <p:spPr>
          <a:xfrm>
            <a:off x="594360" y="3730752"/>
            <a:ext cx="100584" cy="100584"/>
          </a:xfrm>
          <a:prstGeom prst="ellipse">
            <a:avLst/>
          </a:prstGeom>
          <a:solidFill>
            <a:srgbClr val="E8A33D"/>
          </a:solidFill>
        </p:spPr>
      </p:sp>
      <p:sp>
        <p:nvSpPr>
          <p:cNvPr id="13" name="Text 11"/>
          <p:cNvSpPr/>
          <p:nvPr/>
        </p:nvSpPr>
        <p:spPr>
          <a:xfrm>
            <a:off x="850392" y="3689604"/>
            <a:ext cx="10168128" cy="502920"/>
          </a:xfrm>
          <a:prstGeom prst="rect">
            <a:avLst/>
          </a:prstGeom>
          <a:noFill/>
        </p:spPr>
        <p:txBody>
          <a:bodyPr wrap="square" lIns="0" tIns="0" rIns="0" bIns="0" rtlCol="0" anchor="t"/>
          <a:lstStyle/>
          <a:p>
            <a:r>
              <a:rPr lang="en-US" sz="1400" b="1" dirty="0">
                <a:solidFill>
                  <a:schemeClr val="bg1"/>
                </a:solidFill>
              </a:rPr>
              <a:t>Attendance Management — Check-in, check-out, and attendance tracking </a:t>
            </a:r>
          </a:p>
        </p:txBody>
      </p:sp>
      <p:sp>
        <p:nvSpPr>
          <p:cNvPr id="14" name="Shape 12"/>
          <p:cNvSpPr/>
          <p:nvPr/>
        </p:nvSpPr>
        <p:spPr>
          <a:xfrm>
            <a:off x="594360" y="4233672"/>
            <a:ext cx="100584" cy="100584"/>
          </a:xfrm>
          <a:prstGeom prst="ellipse">
            <a:avLst/>
          </a:prstGeom>
          <a:solidFill>
            <a:srgbClr val="E8A33D"/>
          </a:solidFill>
        </p:spPr>
      </p:sp>
      <p:sp>
        <p:nvSpPr>
          <p:cNvPr id="15" name="Text 13"/>
          <p:cNvSpPr/>
          <p:nvPr/>
        </p:nvSpPr>
        <p:spPr>
          <a:xfrm>
            <a:off x="850392" y="4215384"/>
            <a:ext cx="10168128" cy="502920"/>
          </a:xfrm>
          <a:prstGeom prst="rect">
            <a:avLst/>
          </a:prstGeom>
          <a:noFill/>
        </p:spPr>
        <p:txBody>
          <a:bodyPr wrap="square" lIns="0" tIns="0" rIns="0" bIns="0" rtlCol="0" anchor="t"/>
          <a:lstStyle/>
          <a:p>
            <a:r>
              <a:rPr lang="en-US" sz="1400" b="1" dirty="0">
                <a:solidFill>
                  <a:schemeClr val="bg1"/>
                </a:solidFill>
              </a:rPr>
              <a:t>Attendance Reporting — Monthly attendance summaries and work-hour reports</a:t>
            </a:r>
            <a:endParaRPr lang="en-US" sz="1300" dirty="0">
              <a:solidFill>
                <a:schemeClr val="bg1"/>
              </a:solidFill>
            </a:endParaRPr>
          </a:p>
        </p:txBody>
      </p:sp>
      <p:sp>
        <p:nvSpPr>
          <p:cNvPr id="16" name="Shape 14"/>
          <p:cNvSpPr/>
          <p:nvPr/>
        </p:nvSpPr>
        <p:spPr>
          <a:xfrm>
            <a:off x="548640" y="4937760"/>
            <a:ext cx="2743200" cy="0"/>
          </a:xfrm>
          <a:prstGeom prst="line">
            <a:avLst/>
          </a:prstGeom>
          <a:noFill/>
          <a:ln w="12700">
            <a:solidFill>
              <a:srgbClr val="CADCFC"/>
            </a:solidFill>
            <a:prstDash val="solid"/>
          </a:ln>
        </p:spPr>
      </p:sp>
      <p:sp>
        <p:nvSpPr>
          <p:cNvPr id="17" name="Text 15"/>
          <p:cNvSpPr/>
          <p:nvPr/>
        </p:nvSpPr>
        <p:spPr>
          <a:xfrm>
            <a:off x="548640" y="5120640"/>
            <a:ext cx="7315200" cy="45720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1403</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M.MOHAMMED SUHAIL</cp:lastModifiedBy>
  <cp:revision>7</cp:revision>
  <dcterms:created xsi:type="dcterms:W3CDTF">2026-09-15T04:47:00Z</dcterms:created>
  <dcterms:modified xsi:type="dcterms:W3CDTF">2026-09-28T20:08:34Z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F023F6306F69438C9E579917931411E6_13</vt:lpwstr>
  </property>
  <property fmtid="{D5CDD505-2E9C-101B-9397-08002B2CF9AE}" pid="3" name="KSOProductBuildVer">
    <vt:lpwstr>2057-12.2.0.23206</vt:lpwstr>
  </property>
</Properties>
</file>